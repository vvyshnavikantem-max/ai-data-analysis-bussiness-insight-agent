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82" r:id="rId3"/>
    <p:sldId id="283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300" b="0" i="0" u="none" strike="noStrike" kern="1200" baseline="0">
                <a:solidFill>
                  <a:srgbClr val="FFFFFF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 panose="020B0604020202020204"/>
              </a:rPr>
              <a:t>Minutes per step (illustrative)</a:t>
            </a:r>
            <a:endParaRPr sz="1300" b="0" i="0" u="none" strike="noStrike">
              <a:solidFill>
                <a:srgbClr val="FFFFFF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Manual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0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Data cleaning</c:v>
                </c:pt>
                <c:pt idx="1">
                  <c:v>Analysis</c:v>
                </c:pt>
                <c:pt idx="2">
                  <c:v>Visualization</c:v>
                </c:pt>
                <c:pt idx="3">
                  <c:v>Reporting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180</c:v>
                </c:pt>
                <c:pt idx="2">
                  <c:v>90</c:v>
                </c:pt>
                <c:pt idx="3">
                  <c:v>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 agent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0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Data cleaning</c:v>
                </c:pt>
                <c:pt idx="1">
                  <c:v>Analysis</c:v>
                </c:pt>
                <c:pt idx="2">
                  <c:v>Visualization</c:v>
                </c:pt>
                <c:pt idx="3">
                  <c:v>Reporting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rgbClr val="CBD5E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2231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rgbClr val="9FB0C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GB" sz="1100" b="0" i="0" u="none" strike="noStrike" kern="1200" baseline="0">
              <a:solidFill>
                <a:srgbClr val="CBD5E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d8e3d8b4-8a94-47bb-8b5a-4a257513270f}"/>
      </c:ext>
    </c:extLst>
  </c:chart>
  <c:spPr>
    <a:noFill/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21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104882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>
            <a:endParaRPr lang="en-US"/>
          </a:p>
        </p:txBody>
      </p:sp>
      <p:sp>
        <p:nvSpPr>
          <p:cNvPr id="104882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82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2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9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59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61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2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63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5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66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9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69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4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7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4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6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76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0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8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78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4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9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dirty="0"/>
              <a:t>Summarize the benefits, then outline future enhancements.</a:t>
            </a:r>
            <a:endParaRPr lang="en-US" dirty="0"/>
          </a:p>
        </p:txBody>
      </p:sp>
      <p:sp>
        <p:nvSpPr>
          <p:cNvPr id="104879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7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81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dirty="0"/>
              <a:t>Close, thank the audience and invite questions.</a:t>
            </a:r>
            <a:endParaRPr lang="en-US" dirty="0"/>
          </a:p>
        </p:txBody>
      </p:sp>
      <p:sp>
        <p:nvSpPr>
          <p:cNvPr id="104881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image" Target="../media/image1.png"/><Relationship Id="rId3" Type="http://schemas.openxmlformats.org/officeDocument/2006/relationships/tags" Target="../tags/tag3.xml"/><Relationship Id="rId22" Type="http://schemas.openxmlformats.org/officeDocument/2006/relationships/notesSlide" Target="../notesSlides/notesSlide1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16.xml"/><Relationship Id="rId2" Type="http://schemas.openxmlformats.org/officeDocument/2006/relationships/tags" Target="../tags/tag2.xml"/><Relationship Id="rId19" Type="http://schemas.openxmlformats.org/officeDocument/2006/relationships/image" Target="../media/image4.png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image" Target="../media/image3.png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image" Target="../media/image8.png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7" Type="http://schemas.openxmlformats.org/officeDocument/2006/relationships/notesSlide" Target="../notesSlides/notesSlide3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10.png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image" Target="../media/image9.png"/><Relationship Id="rId1" Type="http://schemas.openxmlformats.org/officeDocument/2006/relationships/tags" Target="../tags/tag1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3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7.png"/><Relationship Id="rId4" Type="http://schemas.openxmlformats.org/officeDocument/2006/relationships/image" Target="../media/image2.png"/><Relationship Id="rId3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0.png"/><Relationship Id="rId3" Type="http://schemas.openxmlformats.org/officeDocument/2006/relationships/image" Target="../media/image13.png"/><Relationship Id="rId2" Type="http://schemas.openxmlformats.org/officeDocument/2006/relationships/image" Target="../media/image19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7" name="Text 1"/>
          <p:cNvSpPr txBox="1"/>
          <p:nvPr/>
        </p:nvSpPr>
        <p:spPr>
          <a:xfrm>
            <a:off x="548640" y="1108710"/>
            <a:ext cx="5120640" cy="195453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+mn-ea"/>
                <a:ea typeface="Cambria" panose="02040503050406030204" pitchFamily="34" charset="-122"/>
                <a:cs typeface="+mn-ea"/>
              </a:rPr>
              <a:t>AI Data Analysis and Business Insight Agent</a:t>
            </a:r>
            <a:endParaRPr lang="en-US" sz="3600" dirty="0">
              <a:latin typeface="+mn-ea"/>
              <a:cs typeface="+mn-ea"/>
            </a:endParaRPr>
          </a:p>
        </p:txBody>
      </p:sp>
      <p:sp>
        <p:nvSpPr>
          <p:cNvPr id="1048578" name="Text 2"/>
          <p:cNvSpPr txBox="1"/>
          <p:nvPr/>
        </p:nvSpPr>
        <p:spPr>
          <a:xfrm>
            <a:off x="548640" y="324612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2800" dirty="0">
                <a:solidFill>
                  <a:srgbClr val="9FB0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Turning raw data into business decisions, automatically.</a:t>
            </a:r>
            <a:endParaRPr lang="en-US" sz="2800" dirty="0">
              <a:solidFill>
                <a:srgbClr val="9FB0C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48579" name="Shape 3"/>
          <p:cNvSpPr/>
          <p:nvPr>
            <p:custDataLst>
              <p:tags r:id="rId1"/>
            </p:custDataLst>
          </p:nvPr>
        </p:nvSpPr>
        <p:spPr>
          <a:xfrm>
            <a:off x="5993234" y="1051560"/>
            <a:ext cx="1278302" cy="1460917"/>
          </a:xfrm>
          <a:prstGeom prst="roundRect">
            <a:avLst>
              <a:gd name="adj" fmla="val 7143"/>
            </a:avLst>
          </a:prstGeom>
          <a:solidFill>
            <a:srgbClr val="131D33"/>
          </a:solidFill>
          <a:ln w="9525">
            <a:solidFill>
              <a:srgbClr val="22314F"/>
            </a:solidFill>
            <a:prstDash val="solid"/>
          </a:ln>
        </p:spPr>
        <p:txBody>
          <a:bodyPr/>
          <a:p>
            <a:endParaRPr lang="en-GB" altLang="en-US"/>
          </a:p>
        </p:txBody>
      </p:sp>
      <p:sp>
        <p:nvSpPr>
          <p:cNvPr id="1048580" name="Shape 4"/>
          <p:cNvSpPr/>
          <p:nvPr>
            <p:custDataLst>
              <p:tags r:id="rId2"/>
            </p:custDataLst>
          </p:nvPr>
        </p:nvSpPr>
        <p:spPr>
          <a:xfrm>
            <a:off x="6267156" y="1279828"/>
            <a:ext cx="730459" cy="730459"/>
          </a:xfrm>
          <a:prstGeom prst="ellipse">
            <a:avLst/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pic>
        <p:nvPicPr>
          <p:cNvPr id="2097152" name="Image 0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464380" y="1477052"/>
            <a:ext cx="336011" cy="336011"/>
          </a:xfrm>
          <a:prstGeom prst="rect">
            <a:avLst/>
          </a:prstGeom>
        </p:spPr>
      </p:pic>
      <p:sp>
        <p:nvSpPr>
          <p:cNvPr id="1048581" name="Text 5"/>
          <p:cNvSpPr txBox="1"/>
          <p:nvPr>
            <p:custDataLst>
              <p:tags r:id="rId5"/>
            </p:custDataLst>
          </p:nvPr>
        </p:nvSpPr>
        <p:spPr>
          <a:xfrm>
            <a:off x="5993234" y="2101594"/>
            <a:ext cx="1278302" cy="273922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</a:t>
            </a:r>
            <a:endParaRPr lang="en-US" sz="1400" dirty="0"/>
          </a:p>
        </p:txBody>
      </p:sp>
      <p:sp>
        <p:nvSpPr>
          <p:cNvPr id="1048582" name="Shape 6"/>
          <p:cNvSpPr/>
          <p:nvPr>
            <p:custDataLst>
              <p:tags r:id="rId6"/>
            </p:custDataLst>
          </p:nvPr>
        </p:nvSpPr>
        <p:spPr>
          <a:xfrm>
            <a:off x="7408498" y="1051560"/>
            <a:ext cx="1278302" cy="1460917"/>
          </a:xfrm>
          <a:prstGeom prst="roundRect">
            <a:avLst>
              <a:gd name="adj" fmla="val 7143"/>
            </a:avLst>
          </a:prstGeom>
          <a:solidFill>
            <a:srgbClr val="131D33"/>
          </a:solidFill>
          <a:ln w="9525">
            <a:solidFill>
              <a:srgbClr val="22314F"/>
            </a:solidFill>
            <a:prstDash val="solid"/>
          </a:ln>
        </p:spPr>
      </p:sp>
      <p:sp>
        <p:nvSpPr>
          <p:cNvPr id="1048583" name="Shape 7"/>
          <p:cNvSpPr/>
          <p:nvPr>
            <p:custDataLst>
              <p:tags r:id="rId7"/>
            </p:custDataLst>
          </p:nvPr>
        </p:nvSpPr>
        <p:spPr>
          <a:xfrm>
            <a:off x="7682420" y="1279828"/>
            <a:ext cx="730459" cy="730459"/>
          </a:xfrm>
          <a:prstGeom prst="ellipse">
            <a:avLst/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pic>
        <p:nvPicPr>
          <p:cNvPr id="2097153" name="Image 1" descr="preencoded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879643" y="1477052"/>
            <a:ext cx="336011" cy="336011"/>
          </a:xfrm>
          <a:prstGeom prst="rect">
            <a:avLst/>
          </a:prstGeom>
        </p:spPr>
      </p:pic>
      <p:sp>
        <p:nvSpPr>
          <p:cNvPr id="1048584" name="Text 8"/>
          <p:cNvSpPr txBox="1"/>
          <p:nvPr>
            <p:custDataLst>
              <p:tags r:id="rId10"/>
            </p:custDataLst>
          </p:nvPr>
        </p:nvSpPr>
        <p:spPr>
          <a:xfrm>
            <a:off x="7408498" y="2101594"/>
            <a:ext cx="1278302" cy="273922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</a:t>
            </a:r>
            <a:endParaRPr lang="en-US" sz="1400" dirty="0"/>
          </a:p>
        </p:txBody>
      </p:sp>
      <p:sp>
        <p:nvSpPr>
          <p:cNvPr id="1048585" name="Shape 9"/>
          <p:cNvSpPr/>
          <p:nvPr>
            <p:custDataLst>
              <p:tags r:id="rId11"/>
            </p:custDataLst>
          </p:nvPr>
        </p:nvSpPr>
        <p:spPr>
          <a:xfrm>
            <a:off x="5993234" y="2649438"/>
            <a:ext cx="1278302" cy="1460917"/>
          </a:xfrm>
          <a:prstGeom prst="roundRect">
            <a:avLst>
              <a:gd name="adj" fmla="val 7143"/>
            </a:avLst>
          </a:prstGeom>
          <a:solidFill>
            <a:srgbClr val="131D33"/>
          </a:solidFill>
          <a:ln w="9525">
            <a:solidFill>
              <a:srgbClr val="22314F"/>
            </a:solidFill>
            <a:prstDash val="solid"/>
          </a:ln>
        </p:spPr>
      </p:sp>
      <p:sp>
        <p:nvSpPr>
          <p:cNvPr id="1048586" name="Shape 10"/>
          <p:cNvSpPr/>
          <p:nvPr>
            <p:custDataLst>
              <p:tags r:id="rId12"/>
            </p:custDataLst>
          </p:nvPr>
        </p:nvSpPr>
        <p:spPr>
          <a:xfrm>
            <a:off x="6267156" y="2877706"/>
            <a:ext cx="730459" cy="730459"/>
          </a:xfrm>
          <a:prstGeom prst="ellipse">
            <a:avLst/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pic>
        <p:nvPicPr>
          <p:cNvPr id="2097154" name="Image 2" descr="preencoded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6464380" y="3074930"/>
            <a:ext cx="336011" cy="336011"/>
          </a:xfrm>
          <a:prstGeom prst="rect">
            <a:avLst/>
          </a:prstGeom>
        </p:spPr>
      </p:pic>
      <p:sp>
        <p:nvSpPr>
          <p:cNvPr id="1048587" name="Text 11"/>
          <p:cNvSpPr txBox="1"/>
          <p:nvPr>
            <p:custDataLst>
              <p:tags r:id="rId15"/>
            </p:custDataLst>
          </p:nvPr>
        </p:nvSpPr>
        <p:spPr>
          <a:xfrm>
            <a:off x="5993234" y="3699472"/>
            <a:ext cx="1278302" cy="273922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Insights</a:t>
            </a:r>
            <a:endParaRPr lang="en-US" sz="1400" dirty="0"/>
          </a:p>
        </p:txBody>
      </p:sp>
      <p:sp>
        <p:nvSpPr>
          <p:cNvPr id="1048588" name="Shape 12"/>
          <p:cNvSpPr/>
          <p:nvPr>
            <p:custDataLst>
              <p:tags r:id="rId16"/>
            </p:custDataLst>
          </p:nvPr>
        </p:nvSpPr>
        <p:spPr>
          <a:xfrm>
            <a:off x="7408498" y="2649438"/>
            <a:ext cx="1278302" cy="1460917"/>
          </a:xfrm>
          <a:prstGeom prst="roundRect">
            <a:avLst>
              <a:gd name="adj" fmla="val 7143"/>
            </a:avLst>
          </a:prstGeom>
          <a:solidFill>
            <a:srgbClr val="131D33"/>
          </a:solidFill>
          <a:ln w="9525">
            <a:solidFill>
              <a:srgbClr val="22314F"/>
            </a:solidFill>
            <a:prstDash val="solid"/>
          </a:ln>
        </p:spPr>
      </p:sp>
      <p:sp>
        <p:nvSpPr>
          <p:cNvPr id="1048589" name="Shape 13"/>
          <p:cNvSpPr/>
          <p:nvPr>
            <p:custDataLst>
              <p:tags r:id="rId17"/>
            </p:custDataLst>
          </p:nvPr>
        </p:nvSpPr>
        <p:spPr>
          <a:xfrm>
            <a:off x="7682420" y="2877706"/>
            <a:ext cx="730459" cy="730459"/>
          </a:xfrm>
          <a:prstGeom prst="ellipse">
            <a:avLst/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pic>
        <p:nvPicPr>
          <p:cNvPr id="2097155" name="Image 3" descr="preencoded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7879643" y="3074930"/>
            <a:ext cx="336011" cy="336011"/>
          </a:xfrm>
          <a:prstGeom prst="rect">
            <a:avLst/>
          </a:prstGeom>
        </p:spPr>
      </p:pic>
      <p:sp>
        <p:nvSpPr>
          <p:cNvPr id="1048590" name="Text 14"/>
          <p:cNvSpPr txBox="1"/>
          <p:nvPr>
            <p:custDataLst>
              <p:tags r:id="rId20"/>
            </p:custDataLst>
          </p:nvPr>
        </p:nvSpPr>
        <p:spPr>
          <a:xfrm>
            <a:off x="7408498" y="3699472"/>
            <a:ext cx="1278302" cy="273922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ext 1"/>
          <p:cNvSpPr txBox="1"/>
          <p:nvPr/>
        </p:nvSpPr>
        <p:spPr>
          <a:xfrm>
            <a:off x="8138160" y="475488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  <p:sp>
        <p:nvSpPr>
          <p:cNvPr id="1048596" name="Text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1048597" name="Text 3"/>
          <p:cNvSpPr txBox="1"/>
          <p:nvPr/>
        </p:nvSpPr>
        <p:spPr>
          <a:xfrm>
            <a:off x="457200" y="1280160"/>
            <a:ext cx="393192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AI-powered agent that connects to business data, analyzes it automatically and explains what it means, so anyone can make data-driven decisions without writing code.</a:t>
            </a:r>
            <a:endParaRPr lang="en-US" sz="1500" dirty="0"/>
          </a:p>
        </p:txBody>
      </p:sp>
      <p:sp>
        <p:nvSpPr>
          <p:cNvPr id="1048598" name="Text 4"/>
          <p:cNvSpPr txBox="1"/>
          <p:nvPr/>
        </p:nvSpPr>
        <p:spPr>
          <a:xfrm>
            <a:off x="457200" y="2606040"/>
            <a:ext cx="39319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buNone/>
            </a:pPr>
            <a:r>
              <a:rPr lang="en-US" sz="1400" dirty="0">
                <a:solidFill>
                  <a:srgbClr val="9FB0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brings data analytics, machine learning and large language models together in one conversational assistant.</a:t>
            </a:r>
            <a:endParaRPr lang="en-US" sz="1400" dirty="0"/>
          </a:p>
        </p:txBody>
      </p:sp>
      <p:sp>
        <p:nvSpPr>
          <p:cNvPr id="1048599" name="Shape 5"/>
          <p:cNvSpPr/>
          <p:nvPr/>
        </p:nvSpPr>
        <p:spPr>
          <a:xfrm>
            <a:off x="457200" y="3657600"/>
            <a:ext cx="868680" cy="868680"/>
          </a:xfrm>
          <a:prstGeom prst="ellipse">
            <a:avLst/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pic>
        <p:nvPicPr>
          <p:cNvPr id="209715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744" y="3892144"/>
            <a:ext cx="399593" cy="399593"/>
          </a:xfrm>
          <a:prstGeom prst="rect">
            <a:avLst/>
          </a:prstGeom>
        </p:spPr>
      </p:pic>
      <p:sp>
        <p:nvSpPr>
          <p:cNvPr id="1048600" name="Text 6"/>
          <p:cNvSpPr txBox="1"/>
          <p:nvPr/>
        </p:nvSpPr>
        <p:spPr>
          <a:xfrm>
            <a:off x="1554480" y="3840480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2200" b="1" i="1" dirty="0">
                <a:solidFill>
                  <a:srgbClr val="22D3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Ask. Analyze. Act.</a:t>
            </a:r>
            <a:endParaRPr lang="en-US" sz="2200" dirty="0"/>
          </a:p>
        </p:txBody>
      </p:sp>
      <p:sp>
        <p:nvSpPr>
          <p:cNvPr id="1048601" name="Shape 7"/>
          <p:cNvSpPr/>
          <p:nvPr/>
        </p:nvSpPr>
        <p:spPr>
          <a:xfrm>
            <a:off x="4754880" y="128016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131D33"/>
          </a:solidFill>
          <a:ln w="9525">
            <a:solidFill>
              <a:srgbClr val="22314F"/>
            </a:solidFill>
            <a:prstDash val="solid"/>
          </a:ln>
        </p:spPr>
      </p:sp>
      <p:sp>
        <p:nvSpPr>
          <p:cNvPr id="1048602" name="Shape 8"/>
          <p:cNvSpPr/>
          <p:nvPr/>
        </p:nvSpPr>
        <p:spPr>
          <a:xfrm>
            <a:off x="4937760" y="1481328"/>
            <a:ext cx="603504" cy="603504"/>
          </a:xfrm>
          <a:prstGeom prst="ellipse">
            <a:avLst/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pic>
        <p:nvPicPr>
          <p:cNvPr id="209715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706" y="1644274"/>
            <a:ext cx="277612" cy="277612"/>
          </a:xfrm>
          <a:prstGeom prst="rect">
            <a:avLst/>
          </a:prstGeom>
        </p:spPr>
      </p:pic>
      <p:sp>
        <p:nvSpPr>
          <p:cNvPr id="1048603" name="Text 9"/>
          <p:cNvSpPr txBox="1"/>
          <p:nvPr/>
        </p:nvSpPr>
        <p:spPr>
          <a:xfrm>
            <a:off x="5715000" y="146304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Understands your data</a:t>
            </a:r>
            <a:endParaRPr lang="en-US" sz="1500" dirty="0"/>
          </a:p>
        </p:txBody>
      </p:sp>
      <p:sp>
        <p:nvSpPr>
          <p:cNvPr id="1048604" name="Text 10"/>
          <p:cNvSpPr txBox="1"/>
          <p:nvPr/>
        </p:nvSpPr>
        <p:spPr>
          <a:xfrm>
            <a:off x="5715000" y="1755648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Reads spreadsheets and databases and detects quality issues</a:t>
            </a:r>
            <a:endParaRPr lang="en-US" sz="1200" dirty="0"/>
          </a:p>
        </p:txBody>
      </p:sp>
      <p:sp>
        <p:nvSpPr>
          <p:cNvPr id="1048605" name="Shape 11"/>
          <p:cNvSpPr/>
          <p:nvPr/>
        </p:nvSpPr>
        <p:spPr>
          <a:xfrm>
            <a:off x="4754880" y="24688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131D33"/>
          </a:solidFill>
          <a:ln w="9525">
            <a:solidFill>
              <a:srgbClr val="22314F"/>
            </a:solidFill>
            <a:prstDash val="solid"/>
          </a:ln>
        </p:spPr>
      </p:sp>
      <p:sp>
        <p:nvSpPr>
          <p:cNvPr id="1048606" name="Shape 12"/>
          <p:cNvSpPr/>
          <p:nvPr/>
        </p:nvSpPr>
        <p:spPr>
          <a:xfrm>
            <a:off x="4937760" y="2670048"/>
            <a:ext cx="603504" cy="603504"/>
          </a:xfrm>
          <a:prstGeom prst="ellipse">
            <a:avLst/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pic>
        <p:nvPicPr>
          <p:cNvPr id="209715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0706" y="2832994"/>
            <a:ext cx="277612" cy="277612"/>
          </a:xfrm>
          <a:prstGeom prst="rect">
            <a:avLst/>
          </a:prstGeom>
        </p:spPr>
      </p:pic>
      <p:sp>
        <p:nvSpPr>
          <p:cNvPr id="1048607" name="Text 13"/>
          <p:cNvSpPr txBox="1"/>
          <p:nvPr/>
        </p:nvSpPr>
        <p:spPr>
          <a:xfrm>
            <a:off x="5715000" y="265176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Finds what matters</a:t>
            </a:r>
            <a:endParaRPr lang="en-US" sz="1500" dirty="0"/>
          </a:p>
        </p:txBody>
      </p:sp>
      <p:sp>
        <p:nvSpPr>
          <p:cNvPr id="1048608" name="Text 14"/>
          <p:cNvSpPr txBox="1"/>
          <p:nvPr/>
        </p:nvSpPr>
        <p:spPr>
          <a:xfrm>
            <a:off x="5715000" y="2944368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Surfaces trends, outliers and the drivers behind the numbers</a:t>
            </a:r>
            <a:endParaRPr lang="en-US" sz="1200" dirty="0"/>
          </a:p>
        </p:txBody>
      </p:sp>
      <p:sp>
        <p:nvSpPr>
          <p:cNvPr id="1048609" name="Shape 15"/>
          <p:cNvSpPr/>
          <p:nvPr/>
        </p:nvSpPr>
        <p:spPr>
          <a:xfrm>
            <a:off x="4754880" y="365760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131D33"/>
          </a:solidFill>
          <a:ln w="9525">
            <a:solidFill>
              <a:srgbClr val="22314F"/>
            </a:solidFill>
            <a:prstDash val="solid"/>
          </a:ln>
        </p:spPr>
      </p:sp>
      <p:sp>
        <p:nvSpPr>
          <p:cNvPr id="1048610" name="Shape 16"/>
          <p:cNvSpPr/>
          <p:nvPr/>
        </p:nvSpPr>
        <p:spPr>
          <a:xfrm>
            <a:off x="4937760" y="3858768"/>
            <a:ext cx="603504" cy="603504"/>
          </a:xfrm>
          <a:prstGeom prst="ellipse">
            <a:avLst/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pic>
        <p:nvPicPr>
          <p:cNvPr id="209715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0706" y="4021714"/>
            <a:ext cx="277612" cy="277612"/>
          </a:xfrm>
          <a:prstGeom prst="rect">
            <a:avLst/>
          </a:prstGeom>
        </p:spPr>
      </p:pic>
      <p:sp>
        <p:nvSpPr>
          <p:cNvPr id="1048611" name="Text 17"/>
          <p:cNvSpPr txBox="1"/>
          <p:nvPr/>
        </p:nvSpPr>
        <p:spPr>
          <a:xfrm>
            <a:off x="5715000" y="38404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Recommends actions</a:t>
            </a:r>
            <a:endParaRPr lang="en-US" sz="1500" dirty="0"/>
          </a:p>
        </p:txBody>
      </p:sp>
      <p:sp>
        <p:nvSpPr>
          <p:cNvPr id="1048612" name="Text 18"/>
          <p:cNvSpPr txBox="1"/>
          <p:nvPr/>
        </p:nvSpPr>
        <p:spPr>
          <a:xfrm>
            <a:off x="5715000" y="4133088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Turns findings into clear, business-ready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ext 1"/>
          <p:cNvSpPr txBox="1"/>
          <p:nvPr/>
        </p:nvSpPr>
        <p:spPr>
          <a:xfrm>
            <a:off x="8138160" y="475488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1048618" name="Text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 &amp; Solution</a:t>
            </a:r>
            <a:endParaRPr lang="en-US" sz="3000" dirty="0"/>
          </a:p>
        </p:txBody>
      </p:sp>
      <p:sp>
        <p:nvSpPr>
          <p:cNvPr id="1048619" name="Shape 3"/>
          <p:cNvSpPr/>
          <p:nvPr>
            <p:custDataLst>
              <p:tags r:id="rId1"/>
            </p:custDataLst>
          </p:nvPr>
        </p:nvSpPr>
        <p:spPr>
          <a:xfrm>
            <a:off x="457200" y="1234440"/>
            <a:ext cx="3886200" cy="3337560"/>
          </a:xfrm>
          <a:prstGeom prst="roundRect">
            <a:avLst>
              <a:gd name="adj" fmla="val 2740"/>
            </a:avLst>
          </a:prstGeom>
          <a:solidFill>
            <a:srgbClr val="131D33"/>
          </a:solidFill>
          <a:ln w="9525">
            <a:solidFill>
              <a:srgbClr val="22314F"/>
            </a:solidFill>
            <a:prstDash val="solid"/>
          </a:ln>
        </p:spPr>
      </p:sp>
      <p:sp>
        <p:nvSpPr>
          <p:cNvPr id="1048620" name="Shape 4"/>
          <p:cNvSpPr/>
          <p:nvPr>
            <p:custDataLst>
              <p:tags r:id="rId2"/>
            </p:custDataLst>
          </p:nvPr>
        </p:nvSpPr>
        <p:spPr>
          <a:xfrm>
            <a:off x="685800" y="1417320"/>
            <a:ext cx="548640" cy="548640"/>
          </a:xfrm>
          <a:prstGeom prst="ellipse">
            <a:avLst/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  <p:txBody>
          <a:bodyPr/>
          <a:p>
            <a:endParaRPr lang="en-GB" altLang="en-US"/>
          </a:p>
        </p:txBody>
      </p:sp>
      <p:pic>
        <p:nvPicPr>
          <p:cNvPr id="2097160" name="Image 0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33933" y="1565453"/>
            <a:ext cx="252374" cy="252374"/>
          </a:xfrm>
          <a:prstGeom prst="rect">
            <a:avLst/>
          </a:prstGeom>
        </p:spPr>
      </p:pic>
      <p:sp>
        <p:nvSpPr>
          <p:cNvPr id="1048621" name="Text 5"/>
          <p:cNvSpPr txBox="1"/>
          <p:nvPr>
            <p:custDataLst>
              <p:tags r:id="rId5"/>
            </p:custDataLst>
          </p:nvPr>
        </p:nvSpPr>
        <p:spPr>
          <a:xfrm>
            <a:off x="1371600" y="141732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900" b="1" dirty="0">
                <a:solidFill>
                  <a:srgbClr val="FBBF2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</a:t>
            </a:r>
            <a:endParaRPr lang="en-US" sz="1900" dirty="0"/>
          </a:p>
        </p:txBody>
      </p:sp>
      <p:sp>
        <p:nvSpPr>
          <p:cNvPr id="1048622" name="Text 6"/>
          <p:cNvSpPr txBox="1"/>
          <p:nvPr>
            <p:custDataLst>
              <p:tags r:id="rId6"/>
            </p:custDataLst>
          </p:nvPr>
        </p:nvSpPr>
        <p:spPr>
          <a:xfrm>
            <a:off x="731520" y="2148840"/>
            <a:ext cx="338328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Businesses generate huge volumes of data across sheets, databases and apps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analysis is slow, error-prone and needs skilled analysts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Decision-makers wait days for reports and miss timely insights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Non-technical users struggle to query data or interpret patterns</a:t>
            </a:r>
            <a:endParaRPr lang="en-US" sz="1300" dirty="0"/>
          </a:p>
        </p:txBody>
      </p:sp>
      <p:sp>
        <p:nvSpPr>
          <p:cNvPr id="1048623" name="Shape 7"/>
          <p:cNvSpPr/>
          <p:nvPr>
            <p:custDataLst>
              <p:tags r:id="rId7"/>
            </p:custDataLst>
          </p:nvPr>
        </p:nvSpPr>
        <p:spPr>
          <a:xfrm>
            <a:off x="4800600" y="1234440"/>
            <a:ext cx="3886200" cy="3337560"/>
          </a:xfrm>
          <a:prstGeom prst="roundRect">
            <a:avLst>
              <a:gd name="adj" fmla="val 2740"/>
            </a:avLst>
          </a:prstGeom>
          <a:solidFill>
            <a:srgbClr val="131D33"/>
          </a:solidFill>
          <a:ln w="9525">
            <a:solidFill>
              <a:srgbClr val="22314F"/>
            </a:solidFill>
            <a:prstDash val="solid"/>
          </a:ln>
        </p:spPr>
      </p:sp>
      <p:sp>
        <p:nvSpPr>
          <p:cNvPr id="1048624" name="Shape 8"/>
          <p:cNvSpPr/>
          <p:nvPr>
            <p:custDataLst>
              <p:tags r:id="rId8"/>
            </p:custDataLst>
          </p:nvPr>
        </p:nvSpPr>
        <p:spPr>
          <a:xfrm>
            <a:off x="5029200" y="1417320"/>
            <a:ext cx="548640" cy="548640"/>
          </a:xfrm>
          <a:prstGeom prst="ellipse">
            <a:avLst/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pic>
        <p:nvPicPr>
          <p:cNvPr id="2097161" name="Image 1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5177333" y="1565453"/>
            <a:ext cx="252374" cy="252374"/>
          </a:xfrm>
          <a:prstGeom prst="rect">
            <a:avLst/>
          </a:prstGeom>
        </p:spPr>
      </p:pic>
      <p:sp>
        <p:nvSpPr>
          <p:cNvPr id="1048625" name="Text 9"/>
          <p:cNvSpPr txBox="1"/>
          <p:nvPr>
            <p:custDataLst>
              <p:tags r:id="rId11"/>
            </p:custDataLst>
          </p:nvPr>
        </p:nvSpPr>
        <p:spPr>
          <a:xfrm>
            <a:off x="5715000" y="141732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900" b="1" dirty="0">
                <a:solidFill>
                  <a:srgbClr val="22D3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Our Solution</a:t>
            </a:r>
            <a:endParaRPr lang="en-US" sz="1900" dirty="0"/>
          </a:p>
        </p:txBody>
      </p:sp>
      <p:sp>
        <p:nvSpPr>
          <p:cNvPr id="1048626" name="Text 10"/>
          <p:cNvSpPr txBox="1"/>
          <p:nvPr>
            <p:custDataLst>
              <p:tags r:id="rId12"/>
            </p:custDataLst>
          </p:nvPr>
        </p:nvSpPr>
        <p:spPr>
          <a:xfrm>
            <a:off x="5074920" y="2148840"/>
            <a:ext cx="338328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AI agent that connects to data and cleans it automatically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 questions in plain English and get instant answers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Auto-generated charts, trends, anomalies and forecasts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Plain-language recommendations, available on demand</a:t>
            </a:r>
            <a:endParaRPr lang="en-US" sz="1300" dirty="0"/>
          </a:p>
        </p:txBody>
      </p:sp>
      <p:sp>
        <p:nvSpPr>
          <p:cNvPr id="1048627" name="Shape 11"/>
          <p:cNvSpPr/>
          <p:nvPr>
            <p:custDataLst>
              <p:tags r:id="rId13"/>
            </p:custDataLst>
          </p:nvPr>
        </p:nvSpPr>
        <p:spPr>
          <a:xfrm>
            <a:off x="4315968" y="2651760"/>
            <a:ext cx="512064" cy="512064"/>
          </a:xfrm>
          <a:prstGeom prst="ellipse">
            <a:avLst/>
          </a:prstGeom>
          <a:solidFill>
            <a:srgbClr val="0B1220"/>
          </a:solidFill>
          <a:ln w="6350">
            <a:solidFill>
              <a:srgbClr val="0B1220"/>
            </a:solidFill>
            <a:prstDash val="solid"/>
          </a:ln>
        </p:spPr>
      </p:sp>
      <p:pic>
        <p:nvPicPr>
          <p:cNvPr id="2097162" name="Image 2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4454225" y="2790017"/>
            <a:ext cx="235549" cy="2355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Text 1"/>
          <p:cNvSpPr txBox="1"/>
          <p:nvPr/>
        </p:nvSpPr>
        <p:spPr>
          <a:xfrm>
            <a:off x="8138160" y="475488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  <p:sp>
        <p:nvSpPr>
          <p:cNvPr id="1048633" name="Text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1048634" name="Shape 3"/>
          <p:cNvSpPr/>
          <p:nvPr/>
        </p:nvSpPr>
        <p:spPr>
          <a:xfrm>
            <a:off x="457200" y="128016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131D33"/>
          </a:solidFill>
          <a:ln w="9525">
            <a:solidFill>
              <a:srgbClr val="22314F"/>
            </a:solidFill>
            <a:prstDash val="solid"/>
          </a:ln>
        </p:spPr>
      </p:sp>
      <p:sp>
        <p:nvSpPr>
          <p:cNvPr id="1048635" name="Shape 4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pic>
        <p:nvPicPr>
          <p:cNvPr id="209716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868" y="1598828"/>
            <a:ext cx="231343" cy="231343"/>
          </a:xfrm>
          <a:prstGeom prst="rect">
            <a:avLst/>
          </a:prstGeom>
        </p:spPr>
      </p:pic>
      <p:sp>
        <p:nvSpPr>
          <p:cNvPr id="1048636" name="Text 5"/>
          <p:cNvSpPr txBox="1"/>
          <p:nvPr/>
        </p:nvSpPr>
        <p:spPr>
          <a:xfrm>
            <a:off x="640080" y="205740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Natural-Language Queries</a:t>
            </a:r>
            <a:endParaRPr lang="en-US" sz="1400" dirty="0"/>
          </a:p>
        </p:txBody>
      </p:sp>
      <p:sp>
        <p:nvSpPr>
          <p:cNvPr id="1048637" name="Text 6"/>
          <p:cNvSpPr txBox="1"/>
          <p:nvPr/>
        </p:nvSpPr>
        <p:spPr>
          <a:xfrm>
            <a:off x="640080" y="2350008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 business questions in plain English</a:t>
            </a:r>
            <a:endParaRPr lang="en-US" sz="1150" dirty="0"/>
          </a:p>
        </p:txBody>
      </p:sp>
      <p:sp>
        <p:nvSpPr>
          <p:cNvPr id="1048638" name="Shape 7"/>
          <p:cNvSpPr/>
          <p:nvPr/>
        </p:nvSpPr>
        <p:spPr>
          <a:xfrm>
            <a:off x="3268980" y="128016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131D33"/>
          </a:solidFill>
          <a:ln w="9525">
            <a:solidFill>
              <a:srgbClr val="22314F"/>
            </a:solidFill>
            <a:prstDash val="solid"/>
          </a:ln>
        </p:spPr>
      </p:sp>
      <p:sp>
        <p:nvSpPr>
          <p:cNvPr id="1048639" name="Shape 8"/>
          <p:cNvSpPr/>
          <p:nvPr/>
        </p:nvSpPr>
        <p:spPr>
          <a:xfrm>
            <a:off x="3451860" y="1463040"/>
            <a:ext cx="502920" cy="502920"/>
          </a:xfrm>
          <a:prstGeom prst="ellipse">
            <a:avLst/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pic>
        <p:nvPicPr>
          <p:cNvPr id="209716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648" y="1598828"/>
            <a:ext cx="231343" cy="231343"/>
          </a:xfrm>
          <a:prstGeom prst="rect">
            <a:avLst/>
          </a:prstGeom>
        </p:spPr>
      </p:pic>
      <p:sp>
        <p:nvSpPr>
          <p:cNvPr id="1048640" name="Text 9"/>
          <p:cNvSpPr txBox="1"/>
          <p:nvPr/>
        </p:nvSpPr>
        <p:spPr>
          <a:xfrm>
            <a:off x="3451860" y="205740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Data Cleaning</a:t>
            </a:r>
            <a:endParaRPr lang="en-US" sz="1400" dirty="0"/>
          </a:p>
        </p:txBody>
      </p:sp>
      <p:sp>
        <p:nvSpPr>
          <p:cNvPr id="1048641" name="Text 10"/>
          <p:cNvSpPr txBox="1"/>
          <p:nvPr/>
        </p:nvSpPr>
        <p:spPr>
          <a:xfrm>
            <a:off x="3451860" y="2350008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Fixes missing values, duplicates and formats</a:t>
            </a:r>
            <a:endParaRPr lang="en-US" sz="1150" dirty="0"/>
          </a:p>
        </p:txBody>
      </p:sp>
      <p:sp>
        <p:nvSpPr>
          <p:cNvPr id="1048642" name="Shape 11"/>
          <p:cNvSpPr/>
          <p:nvPr/>
        </p:nvSpPr>
        <p:spPr>
          <a:xfrm>
            <a:off x="6080760" y="128016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131D33"/>
          </a:solidFill>
          <a:ln w="9525">
            <a:solidFill>
              <a:srgbClr val="22314F"/>
            </a:solidFill>
            <a:prstDash val="solid"/>
          </a:ln>
        </p:spPr>
      </p:sp>
      <p:sp>
        <p:nvSpPr>
          <p:cNvPr id="1048643" name="Shape 12"/>
          <p:cNvSpPr/>
          <p:nvPr/>
        </p:nvSpPr>
        <p:spPr>
          <a:xfrm>
            <a:off x="6263640" y="1463040"/>
            <a:ext cx="502920" cy="502920"/>
          </a:xfrm>
          <a:prstGeom prst="ellipse">
            <a:avLst/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pic>
        <p:nvPicPr>
          <p:cNvPr id="209716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428" y="1598828"/>
            <a:ext cx="231343" cy="231343"/>
          </a:xfrm>
          <a:prstGeom prst="rect">
            <a:avLst/>
          </a:prstGeom>
        </p:spPr>
      </p:pic>
      <p:sp>
        <p:nvSpPr>
          <p:cNvPr id="1048644" name="Text 13"/>
          <p:cNvSpPr txBox="1"/>
          <p:nvPr/>
        </p:nvSpPr>
        <p:spPr>
          <a:xfrm>
            <a:off x="6263640" y="205740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Interactive Visualizations</a:t>
            </a:r>
            <a:endParaRPr lang="en-US" sz="1400" dirty="0"/>
          </a:p>
        </p:txBody>
      </p:sp>
      <p:sp>
        <p:nvSpPr>
          <p:cNvPr id="1048645" name="Text 14"/>
          <p:cNvSpPr txBox="1"/>
          <p:nvPr/>
        </p:nvSpPr>
        <p:spPr>
          <a:xfrm>
            <a:off x="6263640" y="2350008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Auto-selects the right chart for every answer</a:t>
            </a:r>
            <a:endParaRPr lang="en-US" sz="1150" dirty="0"/>
          </a:p>
        </p:txBody>
      </p:sp>
      <p:sp>
        <p:nvSpPr>
          <p:cNvPr id="1048646" name="Shape 15"/>
          <p:cNvSpPr/>
          <p:nvPr/>
        </p:nvSpPr>
        <p:spPr>
          <a:xfrm>
            <a:off x="457200" y="297180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131D33"/>
          </a:solidFill>
          <a:ln w="9525">
            <a:solidFill>
              <a:srgbClr val="22314F"/>
            </a:solidFill>
            <a:prstDash val="solid"/>
          </a:ln>
        </p:spPr>
      </p:sp>
      <p:sp>
        <p:nvSpPr>
          <p:cNvPr id="1048647" name="Shape 16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pic>
        <p:nvPicPr>
          <p:cNvPr id="209716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868" y="3290468"/>
            <a:ext cx="231343" cy="231343"/>
          </a:xfrm>
          <a:prstGeom prst="rect">
            <a:avLst/>
          </a:prstGeom>
        </p:spPr>
      </p:pic>
      <p:sp>
        <p:nvSpPr>
          <p:cNvPr id="1048648" name="Text 17"/>
          <p:cNvSpPr txBox="1"/>
          <p:nvPr/>
        </p:nvSpPr>
        <p:spPr>
          <a:xfrm>
            <a:off x="640080" y="374904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Trend &amp; Anomaly Detection</a:t>
            </a:r>
            <a:endParaRPr lang="en-US" sz="1400" dirty="0"/>
          </a:p>
        </p:txBody>
      </p:sp>
      <p:sp>
        <p:nvSpPr>
          <p:cNvPr id="1048649" name="Text 18"/>
          <p:cNvSpPr txBox="1"/>
          <p:nvPr/>
        </p:nvSpPr>
        <p:spPr>
          <a:xfrm>
            <a:off x="640080" y="4041648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Spots unusual patterns and hidden drivers</a:t>
            </a:r>
            <a:endParaRPr lang="en-US" sz="1150" dirty="0"/>
          </a:p>
        </p:txBody>
      </p:sp>
      <p:sp>
        <p:nvSpPr>
          <p:cNvPr id="1048650" name="Shape 19"/>
          <p:cNvSpPr/>
          <p:nvPr/>
        </p:nvSpPr>
        <p:spPr>
          <a:xfrm>
            <a:off x="3268980" y="297180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131D33"/>
          </a:solidFill>
          <a:ln w="9525">
            <a:solidFill>
              <a:srgbClr val="22314F"/>
            </a:solidFill>
            <a:prstDash val="solid"/>
          </a:ln>
        </p:spPr>
      </p:sp>
      <p:sp>
        <p:nvSpPr>
          <p:cNvPr id="1048651" name="Shape 20"/>
          <p:cNvSpPr/>
          <p:nvPr/>
        </p:nvSpPr>
        <p:spPr>
          <a:xfrm>
            <a:off x="3451860" y="3154680"/>
            <a:ext cx="502920" cy="502920"/>
          </a:xfrm>
          <a:prstGeom prst="ellipse">
            <a:avLst/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pic>
        <p:nvPicPr>
          <p:cNvPr id="209716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7648" y="3290468"/>
            <a:ext cx="231343" cy="231343"/>
          </a:xfrm>
          <a:prstGeom prst="rect">
            <a:avLst/>
          </a:prstGeom>
        </p:spPr>
      </p:pic>
      <p:sp>
        <p:nvSpPr>
          <p:cNvPr id="1048652" name="Text 21"/>
          <p:cNvSpPr txBox="1"/>
          <p:nvPr/>
        </p:nvSpPr>
        <p:spPr>
          <a:xfrm>
            <a:off x="3451860" y="374904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Predictive Forecasting</a:t>
            </a:r>
            <a:endParaRPr lang="en-US" sz="1400" dirty="0"/>
          </a:p>
        </p:txBody>
      </p:sp>
      <p:sp>
        <p:nvSpPr>
          <p:cNvPr id="1048653" name="Text 22"/>
          <p:cNvSpPr txBox="1"/>
          <p:nvPr/>
        </p:nvSpPr>
        <p:spPr>
          <a:xfrm>
            <a:off x="3451860" y="4041648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Projects sales, demand and revenue ahead</a:t>
            </a:r>
            <a:endParaRPr lang="en-US" sz="1150" dirty="0"/>
          </a:p>
        </p:txBody>
      </p:sp>
      <p:sp>
        <p:nvSpPr>
          <p:cNvPr id="1048654" name="Shape 23"/>
          <p:cNvSpPr/>
          <p:nvPr/>
        </p:nvSpPr>
        <p:spPr>
          <a:xfrm>
            <a:off x="6080760" y="297180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131D33"/>
          </a:solidFill>
          <a:ln w="9525">
            <a:solidFill>
              <a:srgbClr val="22314F"/>
            </a:solidFill>
            <a:prstDash val="solid"/>
          </a:ln>
        </p:spPr>
      </p:sp>
      <p:sp>
        <p:nvSpPr>
          <p:cNvPr id="1048655" name="Shape 24"/>
          <p:cNvSpPr/>
          <p:nvPr/>
        </p:nvSpPr>
        <p:spPr>
          <a:xfrm>
            <a:off x="6263640" y="3154680"/>
            <a:ext cx="502920" cy="502920"/>
          </a:xfrm>
          <a:prstGeom prst="ellipse">
            <a:avLst/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pic>
        <p:nvPicPr>
          <p:cNvPr id="209716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9428" y="3290468"/>
            <a:ext cx="231343" cy="231343"/>
          </a:xfrm>
          <a:prstGeom prst="rect">
            <a:avLst/>
          </a:prstGeom>
        </p:spPr>
      </p:pic>
      <p:sp>
        <p:nvSpPr>
          <p:cNvPr id="1048656" name="Text 25"/>
          <p:cNvSpPr txBox="1"/>
          <p:nvPr/>
        </p:nvSpPr>
        <p:spPr>
          <a:xfrm>
            <a:off x="6263640" y="374904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 &amp; Report Generation</a:t>
            </a:r>
            <a:endParaRPr lang="en-US" sz="1400" dirty="0"/>
          </a:p>
        </p:txBody>
      </p:sp>
      <p:sp>
        <p:nvSpPr>
          <p:cNvPr id="1048657" name="Text 26"/>
          <p:cNvSpPr txBox="1"/>
          <p:nvPr/>
        </p:nvSpPr>
        <p:spPr>
          <a:xfrm>
            <a:off x="6263640" y="4041648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Summarizes findings in shareable reports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Text 1"/>
          <p:cNvSpPr txBox="1"/>
          <p:nvPr/>
        </p:nvSpPr>
        <p:spPr>
          <a:xfrm>
            <a:off x="8138160" y="475488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  <p:sp>
        <p:nvSpPr>
          <p:cNvPr id="1048663" name="Text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1048664" name="Shape 3"/>
          <p:cNvSpPr/>
          <p:nvPr/>
        </p:nvSpPr>
        <p:spPr>
          <a:xfrm>
            <a:off x="457200" y="1280160"/>
            <a:ext cx="1463040" cy="2697480"/>
          </a:xfrm>
          <a:prstGeom prst="roundRect">
            <a:avLst>
              <a:gd name="adj" fmla="val 6250"/>
            </a:avLst>
          </a:prstGeom>
          <a:solidFill>
            <a:srgbClr val="131D33"/>
          </a:solidFill>
          <a:ln w="9525">
            <a:solidFill>
              <a:srgbClr val="22314F"/>
            </a:solidFill>
            <a:prstDash val="solid"/>
          </a:ln>
        </p:spPr>
      </p:sp>
      <p:sp>
        <p:nvSpPr>
          <p:cNvPr id="1048665" name="Shape 4"/>
          <p:cNvSpPr/>
          <p:nvPr/>
        </p:nvSpPr>
        <p:spPr>
          <a:xfrm>
            <a:off x="594360" y="1444752"/>
            <a:ext cx="548640" cy="548640"/>
          </a:xfrm>
          <a:prstGeom prst="ellipse">
            <a:avLst/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pic>
        <p:nvPicPr>
          <p:cNvPr id="209716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3" y="1592885"/>
            <a:ext cx="252374" cy="252374"/>
          </a:xfrm>
          <a:prstGeom prst="rect">
            <a:avLst/>
          </a:prstGeom>
        </p:spPr>
      </p:pic>
      <p:sp>
        <p:nvSpPr>
          <p:cNvPr id="1048666" name="Text 5"/>
          <p:cNvSpPr txBox="1"/>
          <p:nvPr/>
        </p:nvSpPr>
        <p:spPr>
          <a:xfrm>
            <a:off x="1280160" y="150876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r">
              <a:buNone/>
            </a:pPr>
            <a:r>
              <a:rPr lang="en-US" sz="1400" b="1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400" dirty="0"/>
          </a:p>
        </p:txBody>
      </p:sp>
      <p:sp>
        <p:nvSpPr>
          <p:cNvPr id="1048667" name="Text 6"/>
          <p:cNvSpPr txBox="1"/>
          <p:nvPr/>
        </p:nvSpPr>
        <p:spPr>
          <a:xfrm>
            <a:off x="594360" y="2194560"/>
            <a:ext cx="12344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Sources</a:t>
            </a:r>
            <a:endParaRPr lang="en-US" sz="1300" dirty="0"/>
          </a:p>
        </p:txBody>
      </p:sp>
      <p:sp>
        <p:nvSpPr>
          <p:cNvPr id="1048668" name="Text 7"/>
          <p:cNvSpPr txBox="1"/>
          <p:nvPr/>
        </p:nvSpPr>
        <p:spPr>
          <a:xfrm>
            <a:off x="594360" y="2743200"/>
            <a:ext cx="123444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CSV, Excel, SQL databases and business apps</a:t>
            </a:r>
            <a:endParaRPr lang="en-US" sz="1100" dirty="0"/>
          </a:p>
        </p:txBody>
      </p:sp>
      <p:pic>
        <p:nvPicPr>
          <p:cNvPr id="209717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2532888"/>
            <a:ext cx="182880" cy="182880"/>
          </a:xfrm>
          <a:prstGeom prst="rect">
            <a:avLst/>
          </a:prstGeom>
        </p:spPr>
      </p:pic>
      <p:sp>
        <p:nvSpPr>
          <p:cNvPr id="1048669" name="Shape 8"/>
          <p:cNvSpPr/>
          <p:nvPr/>
        </p:nvSpPr>
        <p:spPr>
          <a:xfrm>
            <a:off x="2148840" y="1280160"/>
            <a:ext cx="1463040" cy="2697480"/>
          </a:xfrm>
          <a:prstGeom prst="roundRect">
            <a:avLst>
              <a:gd name="adj" fmla="val 6250"/>
            </a:avLst>
          </a:prstGeom>
          <a:solidFill>
            <a:srgbClr val="131D33"/>
          </a:solidFill>
          <a:ln w="9525">
            <a:solidFill>
              <a:srgbClr val="22314F"/>
            </a:solidFill>
            <a:prstDash val="solid"/>
          </a:ln>
        </p:spPr>
      </p:sp>
      <p:sp>
        <p:nvSpPr>
          <p:cNvPr id="1048670" name="Shape 9"/>
          <p:cNvSpPr/>
          <p:nvPr/>
        </p:nvSpPr>
        <p:spPr>
          <a:xfrm>
            <a:off x="2286000" y="1444752"/>
            <a:ext cx="548640" cy="548640"/>
          </a:xfrm>
          <a:prstGeom prst="ellipse">
            <a:avLst/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pic>
        <p:nvPicPr>
          <p:cNvPr id="209717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4133" y="1592885"/>
            <a:ext cx="252374" cy="252374"/>
          </a:xfrm>
          <a:prstGeom prst="rect">
            <a:avLst/>
          </a:prstGeom>
        </p:spPr>
      </p:pic>
      <p:sp>
        <p:nvSpPr>
          <p:cNvPr id="1048671" name="Text 10"/>
          <p:cNvSpPr txBox="1"/>
          <p:nvPr/>
        </p:nvSpPr>
        <p:spPr>
          <a:xfrm>
            <a:off x="2971800" y="150876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r">
              <a:buNone/>
            </a:pPr>
            <a:r>
              <a:rPr lang="en-US" sz="1400" b="1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400" dirty="0"/>
          </a:p>
        </p:txBody>
      </p:sp>
      <p:sp>
        <p:nvSpPr>
          <p:cNvPr id="1048672" name="Text 11"/>
          <p:cNvSpPr txBox="1"/>
          <p:nvPr/>
        </p:nvSpPr>
        <p:spPr>
          <a:xfrm>
            <a:off x="2286000" y="2194560"/>
            <a:ext cx="12344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Ingestion &amp; Cleaning</a:t>
            </a:r>
            <a:endParaRPr lang="en-US" sz="1300" dirty="0"/>
          </a:p>
        </p:txBody>
      </p:sp>
      <p:sp>
        <p:nvSpPr>
          <p:cNvPr id="1048673" name="Text 12"/>
          <p:cNvSpPr txBox="1"/>
          <p:nvPr/>
        </p:nvSpPr>
        <p:spPr>
          <a:xfrm>
            <a:off x="2286000" y="2743200"/>
            <a:ext cx="123444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Fixes missing values, duplicates and formats</a:t>
            </a:r>
            <a:endParaRPr lang="en-US" sz="1100" dirty="0"/>
          </a:p>
        </p:txBody>
      </p:sp>
      <p:pic>
        <p:nvPicPr>
          <p:cNvPr id="2097172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532888"/>
            <a:ext cx="182880" cy="182880"/>
          </a:xfrm>
          <a:prstGeom prst="rect">
            <a:avLst/>
          </a:prstGeom>
        </p:spPr>
      </p:pic>
      <p:sp>
        <p:nvSpPr>
          <p:cNvPr id="1048674" name="Shape 13"/>
          <p:cNvSpPr/>
          <p:nvPr/>
        </p:nvSpPr>
        <p:spPr>
          <a:xfrm>
            <a:off x="3840480" y="1280160"/>
            <a:ext cx="1463040" cy="2697480"/>
          </a:xfrm>
          <a:prstGeom prst="roundRect">
            <a:avLst>
              <a:gd name="adj" fmla="val 6250"/>
            </a:avLst>
          </a:prstGeom>
          <a:solidFill>
            <a:srgbClr val="131D33"/>
          </a:solidFill>
          <a:ln w="9525">
            <a:solidFill>
              <a:srgbClr val="22314F"/>
            </a:solidFill>
            <a:prstDash val="solid"/>
          </a:ln>
        </p:spPr>
      </p:sp>
      <p:sp>
        <p:nvSpPr>
          <p:cNvPr id="1048675" name="Shape 14"/>
          <p:cNvSpPr/>
          <p:nvPr/>
        </p:nvSpPr>
        <p:spPr>
          <a:xfrm>
            <a:off x="3977640" y="1444752"/>
            <a:ext cx="548640" cy="548640"/>
          </a:xfrm>
          <a:prstGeom prst="ellipse">
            <a:avLst/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pic>
        <p:nvPicPr>
          <p:cNvPr id="209717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773" y="1592885"/>
            <a:ext cx="252374" cy="252374"/>
          </a:xfrm>
          <a:prstGeom prst="rect">
            <a:avLst/>
          </a:prstGeom>
        </p:spPr>
      </p:pic>
      <p:sp>
        <p:nvSpPr>
          <p:cNvPr id="1048676" name="Text 15"/>
          <p:cNvSpPr txBox="1"/>
          <p:nvPr/>
        </p:nvSpPr>
        <p:spPr>
          <a:xfrm>
            <a:off x="4663440" y="150876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r">
              <a:buNone/>
            </a:pPr>
            <a:r>
              <a:rPr lang="en-US" sz="1400" b="1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400" dirty="0"/>
          </a:p>
        </p:txBody>
      </p:sp>
      <p:sp>
        <p:nvSpPr>
          <p:cNvPr id="1048677" name="Text 16"/>
          <p:cNvSpPr txBox="1"/>
          <p:nvPr/>
        </p:nvSpPr>
        <p:spPr>
          <a:xfrm>
            <a:off x="3977640" y="2194560"/>
            <a:ext cx="12344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Analysis Engine</a:t>
            </a:r>
            <a:endParaRPr lang="en-US" sz="1300" dirty="0"/>
          </a:p>
        </p:txBody>
      </p:sp>
      <p:sp>
        <p:nvSpPr>
          <p:cNvPr id="1048678" name="Text 17"/>
          <p:cNvSpPr txBox="1"/>
          <p:nvPr/>
        </p:nvSpPr>
        <p:spPr>
          <a:xfrm>
            <a:off x="3977640" y="2743200"/>
            <a:ext cx="123444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plans queries, runs stats, finds patterns</a:t>
            </a:r>
            <a:endParaRPr lang="en-US" sz="1100" dirty="0"/>
          </a:p>
        </p:txBody>
      </p:sp>
      <p:pic>
        <p:nvPicPr>
          <p:cNvPr id="2097174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532888"/>
            <a:ext cx="182880" cy="182880"/>
          </a:xfrm>
          <a:prstGeom prst="rect">
            <a:avLst/>
          </a:prstGeom>
        </p:spPr>
      </p:pic>
      <p:sp>
        <p:nvSpPr>
          <p:cNvPr id="1048679" name="Shape 18"/>
          <p:cNvSpPr/>
          <p:nvPr/>
        </p:nvSpPr>
        <p:spPr>
          <a:xfrm>
            <a:off x="5532120" y="1280160"/>
            <a:ext cx="1463040" cy="2697480"/>
          </a:xfrm>
          <a:prstGeom prst="roundRect">
            <a:avLst>
              <a:gd name="adj" fmla="val 6250"/>
            </a:avLst>
          </a:prstGeom>
          <a:solidFill>
            <a:srgbClr val="131D33"/>
          </a:solidFill>
          <a:ln w="9525">
            <a:solidFill>
              <a:srgbClr val="22314F"/>
            </a:solidFill>
            <a:prstDash val="solid"/>
          </a:ln>
        </p:spPr>
      </p:sp>
      <p:sp>
        <p:nvSpPr>
          <p:cNvPr id="1048680" name="Shape 19"/>
          <p:cNvSpPr/>
          <p:nvPr/>
        </p:nvSpPr>
        <p:spPr>
          <a:xfrm>
            <a:off x="5669280" y="1444752"/>
            <a:ext cx="548640" cy="548640"/>
          </a:xfrm>
          <a:prstGeom prst="ellipse">
            <a:avLst/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pic>
        <p:nvPicPr>
          <p:cNvPr id="2097175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7413" y="1592885"/>
            <a:ext cx="252374" cy="252374"/>
          </a:xfrm>
          <a:prstGeom prst="rect">
            <a:avLst/>
          </a:prstGeom>
        </p:spPr>
      </p:pic>
      <p:sp>
        <p:nvSpPr>
          <p:cNvPr id="1048681" name="Text 20"/>
          <p:cNvSpPr txBox="1"/>
          <p:nvPr/>
        </p:nvSpPr>
        <p:spPr>
          <a:xfrm>
            <a:off x="6355080" y="150876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r">
              <a:buNone/>
            </a:pPr>
            <a:r>
              <a:rPr lang="en-US" sz="1400" b="1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400" dirty="0"/>
          </a:p>
        </p:txBody>
      </p:sp>
      <p:sp>
        <p:nvSpPr>
          <p:cNvPr id="1048682" name="Text 21"/>
          <p:cNvSpPr txBox="1"/>
          <p:nvPr/>
        </p:nvSpPr>
        <p:spPr>
          <a:xfrm>
            <a:off x="5669280" y="2194560"/>
            <a:ext cx="12344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 Generation</a:t>
            </a:r>
            <a:endParaRPr lang="en-US" sz="1300" dirty="0"/>
          </a:p>
        </p:txBody>
      </p:sp>
      <p:sp>
        <p:nvSpPr>
          <p:cNvPr id="1048683" name="Text 22"/>
          <p:cNvSpPr txBox="1"/>
          <p:nvPr/>
        </p:nvSpPr>
        <p:spPr>
          <a:xfrm>
            <a:off x="5669280" y="2743200"/>
            <a:ext cx="123444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Trends, anomalies and forecasts in plain words</a:t>
            </a:r>
            <a:endParaRPr lang="en-US" sz="1100" dirty="0"/>
          </a:p>
        </p:txBody>
      </p:sp>
      <p:pic>
        <p:nvPicPr>
          <p:cNvPr id="2097176" name="Image 7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532888"/>
            <a:ext cx="182880" cy="182880"/>
          </a:xfrm>
          <a:prstGeom prst="rect">
            <a:avLst/>
          </a:prstGeom>
        </p:spPr>
      </p:pic>
      <p:sp>
        <p:nvSpPr>
          <p:cNvPr id="1048684" name="Shape 23"/>
          <p:cNvSpPr/>
          <p:nvPr/>
        </p:nvSpPr>
        <p:spPr>
          <a:xfrm>
            <a:off x="7223760" y="1280160"/>
            <a:ext cx="1463040" cy="2697480"/>
          </a:xfrm>
          <a:prstGeom prst="roundRect">
            <a:avLst>
              <a:gd name="adj" fmla="val 6250"/>
            </a:avLst>
          </a:prstGeom>
          <a:solidFill>
            <a:srgbClr val="131D33"/>
          </a:solidFill>
          <a:ln w="9525">
            <a:solidFill>
              <a:srgbClr val="22314F"/>
            </a:solidFill>
            <a:prstDash val="solid"/>
          </a:ln>
        </p:spPr>
      </p:sp>
      <p:sp>
        <p:nvSpPr>
          <p:cNvPr id="1048685" name="Shape 24"/>
          <p:cNvSpPr/>
          <p:nvPr/>
        </p:nvSpPr>
        <p:spPr>
          <a:xfrm>
            <a:off x="7360920" y="1444752"/>
            <a:ext cx="548640" cy="548640"/>
          </a:xfrm>
          <a:prstGeom prst="ellipse">
            <a:avLst/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pic>
        <p:nvPicPr>
          <p:cNvPr id="2097177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9053" y="1592885"/>
            <a:ext cx="252374" cy="252374"/>
          </a:xfrm>
          <a:prstGeom prst="rect">
            <a:avLst/>
          </a:prstGeom>
        </p:spPr>
      </p:pic>
      <p:sp>
        <p:nvSpPr>
          <p:cNvPr id="1048686" name="Text 25"/>
          <p:cNvSpPr txBox="1"/>
          <p:nvPr/>
        </p:nvSpPr>
        <p:spPr>
          <a:xfrm>
            <a:off x="8046720" y="150876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r">
              <a:buNone/>
            </a:pPr>
            <a:r>
              <a:rPr lang="en-US" sz="1400" b="1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400" dirty="0"/>
          </a:p>
        </p:txBody>
      </p:sp>
      <p:sp>
        <p:nvSpPr>
          <p:cNvPr id="1048687" name="Text 26"/>
          <p:cNvSpPr txBox="1"/>
          <p:nvPr/>
        </p:nvSpPr>
        <p:spPr>
          <a:xfrm>
            <a:off x="7360920" y="2194560"/>
            <a:ext cx="12344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&amp; Chat</a:t>
            </a:r>
            <a:endParaRPr lang="en-US" sz="1300" dirty="0"/>
          </a:p>
        </p:txBody>
      </p:sp>
      <p:sp>
        <p:nvSpPr>
          <p:cNvPr id="1048688" name="Text 27"/>
          <p:cNvSpPr txBox="1"/>
          <p:nvPr/>
        </p:nvSpPr>
        <p:spPr>
          <a:xfrm>
            <a:off x="7360920" y="2743200"/>
            <a:ext cx="123444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Charts, reports and conversational follow-ups</a:t>
            </a:r>
            <a:endParaRPr lang="en-US" sz="1100" dirty="0"/>
          </a:p>
        </p:txBody>
      </p:sp>
      <p:sp>
        <p:nvSpPr>
          <p:cNvPr id="1048689" name="Shape 28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131D33"/>
          </a:solidFill>
          <a:ln w="9525">
            <a:solidFill>
              <a:srgbClr val="22314F"/>
            </a:solidFill>
            <a:prstDash val="solid"/>
          </a:ln>
        </p:spPr>
      </p:sp>
      <p:sp>
        <p:nvSpPr>
          <p:cNvPr id="1048690" name="Shape 29"/>
          <p:cNvSpPr/>
          <p:nvPr/>
        </p:nvSpPr>
        <p:spPr>
          <a:xfrm>
            <a:off x="594360" y="4224528"/>
            <a:ext cx="365760" cy="365760"/>
          </a:xfrm>
          <a:prstGeom prst="ellipse">
            <a:avLst/>
          </a:prstGeom>
          <a:solidFill>
            <a:srgbClr val="0B1220"/>
          </a:solidFill>
          <a:ln w="6350">
            <a:solidFill>
              <a:srgbClr val="0B1220"/>
            </a:solidFill>
            <a:prstDash val="solid"/>
          </a:ln>
        </p:spPr>
      </p:sp>
      <p:pic>
        <p:nvPicPr>
          <p:cNvPr id="2097178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115" y="4323283"/>
            <a:ext cx="168250" cy="168250"/>
          </a:xfrm>
          <a:prstGeom prst="rect">
            <a:avLst/>
          </a:prstGeom>
        </p:spPr>
      </p:pic>
      <p:sp>
        <p:nvSpPr>
          <p:cNvPr id="1048691" name="Text 30"/>
          <p:cNvSpPr txBox="1"/>
          <p:nvPr/>
        </p:nvSpPr>
        <p:spPr>
          <a:xfrm>
            <a:off x="1143000" y="4160520"/>
            <a:ext cx="7406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Feedback loop: follow-up questions refine the analysis and improve the next answer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Text 1"/>
          <p:cNvSpPr txBox="1"/>
          <p:nvPr/>
        </p:nvSpPr>
        <p:spPr>
          <a:xfrm>
            <a:off x="8138160" y="475488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  <p:sp>
        <p:nvSpPr>
          <p:cNvPr id="1048697" name="Text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1048698" name="Shape 3"/>
          <p:cNvSpPr/>
          <p:nvPr/>
        </p:nvSpPr>
        <p:spPr>
          <a:xfrm>
            <a:off x="457200" y="123444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131D33"/>
          </a:solidFill>
          <a:ln w="9525">
            <a:solidFill>
              <a:srgbClr val="22314F"/>
            </a:solidFill>
            <a:prstDash val="solid"/>
          </a:ln>
        </p:spPr>
      </p:sp>
      <p:sp>
        <p:nvSpPr>
          <p:cNvPr id="1048699" name="Shape 4"/>
          <p:cNvSpPr/>
          <p:nvPr/>
        </p:nvSpPr>
        <p:spPr>
          <a:xfrm>
            <a:off x="640080" y="1353312"/>
            <a:ext cx="493776" cy="493776"/>
          </a:xfrm>
          <a:prstGeom prst="ellipse">
            <a:avLst/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pic>
        <p:nvPicPr>
          <p:cNvPr id="209717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400" y="1486632"/>
            <a:ext cx="227137" cy="227137"/>
          </a:xfrm>
          <a:prstGeom prst="rect">
            <a:avLst/>
          </a:prstGeom>
        </p:spPr>
      </p:pic>
      <p:sp>
        <p:nvSpPr>
          <p:cNvPr id="1048700" name="Text 5"/>
          <p:cNvSpPr txBox="1"/>
          <p:nvPr/>
        </p:nvSpPr>
        <p:spPr>
          <a:xfrm>
            <a:off x="1371600" y="123444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1048701" name="Shape 6"/>
          <p:cNvSpPr/>
          <p:nvPr/>
        </p:nvSpPr>
        <p:spPr>
          <a:xfrm>
            <a:off x="3611880" y="141732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sp>
        <p:nvSpPr>
          <p:cNvPr id="1048702" name="Text 7"/>
          <p:cNvSpPr txBox="1"/>
          <p:nvPr/>
        </p:nvSpPr>
        <p:spPr>
          <a:xfrm>
            <a:off x="3611880" y="1417320"/>
            <a:ext cx="1143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1048703" name="Shape 8"/>
          <p:cNvSpPr/>
          <p:nvPr/>
        </p:nvSpPr>
        <p:spPr>
          <a:xfrm>
            <a:off x="4846320" y="141732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sp>
        <p:nvSpPr>
          <p:cNvPr id="1048704" name="Text 9"/>
          <p:cNvSpPr txBox="1"/>
          <p:nvPr/>
        </p:nvSpPr>
        <p:spPr>
          <a:xfrm>
            <a:off x="4846320" y="1417320"/>
            <a:ext cx="1143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Pandas</a:t>
            </a:r>
            <a:endParaRPr lang="en-US" sz="1100" dirty="0"/>
          </a:p>
        </p:txBody>
      </p:sp>
      <p:sp>
        <p:nvSpPr>
          <p:cNvPr id="1048705" name="Shape 10"/>
          <p:cNvSpPr/>
          <p:nvPr/>
        </p:nvSpPr>
        <p:spPr>
          <a:xfrm>
            <a:off x="6080760" y="141732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sp>
        <p:nvSpPr>
          <p:cNvPr id="1048706" name="Text 11"/>
          <p:cNvSpPr txBox="1"/>
          <p:nvPr/>
        </p:nvSpPr>
        <p:spPr>
          <a:xfrm>
            <a:off x="6080760" y="1417320"/>
            <a:ext cx="1143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NumPy</a:t>
            </a:r>
            <a:endParaRPr lang="en-US" sz="1100" dirty="0"/>
          </a:p>
        </p:txBody>
      </p:sp>
      <p:sp>
        <p:nvSpPr>
          <p:cNvPr id="1048707" name="Shape 12"/>
          <p:cNvSpPr/>
          <p:nvPr/>
        </p:nvSpPr>
        <p:spPr>
          <a:xfrm>
            <a:off x="7315200" y="141732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sp>
        <p:nvSpPr>
          <p:cNvPr id="1048708" name="Text 13"/>
          <p:cNvSpPr txBox="1"/>
          <p:nvPr/>
        </p:nvSpPr>
        <p:spPr>
          <a:xfrm>
            <a:off x="7315200" y="1417320"/>
            <a:ext cx="1143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</a:t>
            </a:r>
            <a:endParaRPr lang="en-US" sz="1100" dirty="0"/>
          </a:p>
        </p:txBody>
      </p:sp>
      <p:sp>
        <p:nvSpPr>
          <p:cNvPr id="1048709" name="Shape 14"/>
          <p:cNvSpPr/>
          <p:nvPr/>
        </p:nvSpPr>
        <p:spPr>
          <a:xfrm>
            <a:off x="457200" y="21031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131D33"/>
          </a:solidFill>
          <a:ln w="9525">
            <a:solidFill>
              <a:srgbClr val="22314F"/>
            </a:solidFill>
            <a:prstDash val="solid"/>
          </a:ln>
        </p:spPr>
      </p:sp>
      <p:sp>
        <p:nvSpPr>
          <p:cNvPr id="1048710" name="Shape 15"/>
          <p:cNvSpPr/>
          <p:nvPr/>
        </p:nvSpPr>
        <p:spPr>
          <a:xfrm>
            <a:off x="640080" y="2221992"/>
            <a:ext cx="493776" cy="493776"/>
          </a:xfrm>
          <a:prstGeom prst="ellipse">
            <a:avLst/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pic>
        <p:nvPicPr>
          <p:cNvPr id="209718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400" y="2355312"/>
            <a:ext cx="227137" cy="227137"/>
          </a:xfrm>
          <a:prstGeom prst="rect">
            <a:avLst/>
          </a:prstGeom>
        </p:spPr>
      </p:pic>
      <p:sp>
        <p:nvSpPr>
          <p:cNvPr id="1048711" name="Text 16"/>
          <p:cNvSpPr txBox="1"/>
          <p:nvPr/>
        </p:nvSpPr>
        <p:spPr>
          <a:xfrm>
            <a:off x="1371600" y="210312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&amp; Analytics</a:t>
            </a:r>
            <a:endParaRPr lang="en-US" sz="1500" dirty="0"/>
          </a:p>
        </p:txBody>
      </p:sp>
      <p:sp>
        <p:nvSpPr>
          <p:cNvPr id="1048712" name="Shape 17"/>
          <p:cNvSpPr/>
          <p:nvPr/>
        </p:nvSpPr>
        <p:spPr>
          <a:xfrm>
            <a:off x="3611880" y="228600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sp>
        <p:nvSpPr>
          <p:cNvPr id="1048713" name="Text 18"/>
          <p:cNvSpPr txBox="1"/>
          <p:nvPr/>
        </p:nvSpPr>
        <p:spPr>
          <a:xfrm>
            <a:off x="3611880" y="2286000"/>
            <a:ext cx="1143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(Claude)</a:t>
            </a:r>
            <a:endParaRPr lang="en-US" sz="1100" dirty="0"/>
          </a:p>
        </p:txBody>
      </p:sp>
      <p:sp>
        <p:nvSpPr>
          <p:cNvPr id="1048714" name="Shape 19"/>
          <p:cNvSpPr/>
          <p:nvPr/>
        </p:nvSpPr>
        <p:spPr>
          <a:xfrm>
            <a:off x="4846320" y="228600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sp>
        <p:nvSpPr>
          <p:cNvPr id="1048715" name="Text 20"/>
          <p:cNvSpPr txBox="1"/>
          <p:nvPr/>
        </p:nvSpPr>
        <p:spPr>
          <a:xfrm>
            <a:off x="4846320" y="2286000"/>
            <a:ext cx="1143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1048716" name="Shape 21"/>
          <p:cNvSpPr/>
          <p:nvPr/>
        </p:nvSpPr>
        <p:spPr>
          <a:xfrm>
            <a:off x="6080760" y="228600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sp>
        <p:nvSpPr>
          <p:cNvPr id="1048717" name="Text 22"/>
          <p:cNvSpPr txBox="1"/>
          <p:nvPr/>
        </p:nvSpPr>
        <p:spPr>
          <a:xfrm>
            <a:off x="6080760" y="2286000"/>
            <a:ext cx="1143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Prompting</a:t>
            </a:r>
            <a:endParaRPr lang="en-US" sz="1100" dirty="0"/>
          </a:p>
        </p:txBody>
      </p:sp>
      <p:sp>
        <p:nvSpPr>
          <p:cNvPr id="1048718" name="Shape 23"/>
          <p:cNvSpPr/>
          <p:nvPr/>
        </p:nvSpPr>
        <p:spPr>
          <a:xfrm>
            <a:off x="7315200" y="228600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sp>
        <p:nvSpPr>
          <p:cNvPr id="1048719" name="Text 24"/>
          <p:cNvSpPr txBox="1"/>
          <p:nvPr/>
        </p:nvSpPr>
        <p:spPr>
          <a:xfrm>
            <a:off x="7315200" y="2286000"/>
            <a:ext cx="1143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Forecasting</a:t>
            </a:r>
            <a:endParaRPr lang="en-US" sz="1100" dirty="0"/>
          </a:p>
        </p:txBody>
      </p:sp>
      <p:sp>
        <p:nvSpPr>
          <p:cNvPr id="1048720" name="Shape 25"/>
          <p:cNvSpPr/>
          <p:nvPr/>
        </p:nvSpPr>
        <p:spPr>
          <a:xfrm>
            <a:off x="457200" y="29718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131D33"/>
          </a:solidFill>
          <a:ln w="9525">
            <a:solidFill>
              <a:srgbClr val="22314F"/>
            </a:solidFill>
            <a:prstDash val="solid"/>
          </a:ln>
        </p:spPr>
      </p:sp>
      <p:sp>
        <p:nvSpPr>
          <p:cNvPr id="1048721" name="Shape 26"/>
          <p:cNvSpPr/>
          <p:nvPr/>
        </p:nvSpPr>
        <p:spPr>
          <a:xfrm>
            <a:off x="640080" y="3090672"/>
            <a:ext cx="493776" cy="493776"/>
          </a:xfrm>
          <a:prstGeom prst="ellipse">
            <a:avLst/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pic>
        <p:nvPicPr>
          <p:cNvPr id="209718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400" y="3223992"/>
            <a:ext cx="227137" cy="227137"/>
          </a:xfrm>
          <a:prstGeom prst="rect">
            <a:avLst/>
          </a:prstGeom>
        </p:spPr>
      </p:pic>
      <p:sp>
        <p:nvSpPr>
          <p:cNvPr id="1048722" name="Text 27"/>
          <p:cNvSpPr txBox="1"/>
          <p:nvPr/>
        </p:nvSpPr>
        <p:spPr>
          <a:xfrm>
            <a:off x="1371600" y="297180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Visualization</a:t>
            </a:r>
            <a:endParaRPr lang="en-US" sz="1500" dirty="0"/>
          </a:p>
        </p:txBody>
      </p:sp>
      <p:sp>
        <p:nvSpPr>
          <p:cNvPr id="1048723" name="Shape 28"/>
          <p:cNvSpPr/>
          <p:nvPr/>
        </p:nvSpPr>
        <p:spPr>
          <a:xfrm>
            <a:off x="3611880" y="315468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sp>
        <p:nvSpPr>
          <p:cNvPr id="1048724" name="Text 29"/>
          <p:cNvSpPr txBox="1"/>
          <p:nvPr/>
        </p:nvSpPr>
        <p:spPr>
          <a:xfrm>
            <a:off x="3611880" y="3154680"/>
            <a:ext cx="1143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Plotly</a:t>
            </a:r>
            <a:endParaRPr lang="en-US" sz="1100" dirty="0"/>
          </a:p>
        </p:txBody>
      </p:sp>
      <p:sp>
        <p:nvSpPr>
          <p:cNvPr id="1048725" name="Shape 30"/>
          <p:cNvSpPr/>
          <p:nvPr/>
        </p:nvSpPr>
        <p:spPr>
          <a:xfrm>
            <a:off x="4846320" y="315468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sp>
        <p:nvSpPr>
          <p:cNvPr id="1048726" name="Text 31"/>
          <p:cNvSpPr txBox="1"/>
          <p:nvPr/>
        </p:nvSpPr>
        <p:spPr>
          <a:xfrm>
            <a:off x="4846320" y="3154680"/>
            <a:ext cx="1143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Matplotlib</a:t>
            </a:r>
            <a:endParaRPr lang="en-US" sz="1100" dirty="0"/>
          </a:p>
        </p:txBody>
      </p:sp>
      <p:sp>
        <p:nvSpPr>
          <p:cNvPr id="1048727" name="Shape 32"/>
          <p:cNvSpPr/>
          <p:nvPr/>
        </p:nvSpPr>
        <p:spPr>
          <a:xfrm>
            <a:off x="6080760" y="315468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sp>
        <p:nvSpPr>
          <p:cNvPr id="1048728" name="Text 33"/>
          <p:cNvSpPr txBox="1"/>
          <p:nvPr/>
        </p:nvSpPr>
        <p:spPr>
          <a:xfrm>
            <a:off x="6080760" y="3154680"/>
            <a:ext cx="1143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Seaborn</a:t>
            </a:r>
            <a:endParaRPr lang="en-US" sz="1100" dirty="0"/>
          </a:p>
        </p:txBody>
      </p:sp>
      <p:sp>
        <p:nvSpPr>
          <p:cNvPr id="1048729" name="Shape 34"/>
          <p:cNvSpPr/>
          <p:nvPr/>
        </p:nvSpPr>
        <p:spPr>
          <a:xfrm>
            <a:off x="7315200" y="315468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sp>
        <p:nvSpPr>
          <p:cNvPr id="1048730" name="Text 35"/>
          <p:cNvSpPr txBox="1"/>
          <p:nvPr/>
        </p:nvSpPr>
        <p:spPr>
          <a:xfrm>
            <a:off x="7315200" y="3154680"/>
            <a:ext cx="1143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Dashboards</a:t>
            </a:r>
            <a:endParaRPr lang="en-US" sz="1100" dirty="0"/>
          </a:p>
        </p:txBody>
      </p:sp>
      <p:sp>
        <p:nvSpPr>
          <p:cNvPr id="1048731" name="Shape 36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131D33"/>
          </a:solidFill>
          <a:ln w="9525">
            <a:solidFill>
              <a:srgbClr val="22314F"/>
            </a:solidFill>
            <a:prstDash val="solid"/>
          </a:ln>
        </p:spPr>
      </p:sp>
      <p:sp>
        <p:nvSpPr>
          <p:cNvPr id="1048732" name="Shape 37"/>
          <p:cNvSpPr/>
          <p:nvPr/>
        </p:nvSpPr>
        <p:spPr>
          <a:xfrm>
            <a:off x="640080" y="3959352"/>
            <a:ext cx="493776" cy="493776"/>
          </a:xfrm>
          <a:prstGeom prst="ellipse">
            <a:avLst/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pic>
        <p:nvPicPr>
          <p:cNvPr id="209718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400" y="4092672"/>
            <a:ext cx="227137" cy="227137"/>
          </a:xfrm>
          <a:prstGeom prst="rect">
            <a:avLst/>
          </a:prstGeom>
        </p:spPr>
      </p:pic>
      <p:sp>
        <p:nvSpPr>
          <p:cNvPr id="1048733" name="Text 38"/>
          <p:cNvSpPr txBox="1"/>
          <p:nvPr/>
        </p:nvSpPr>
        <p:spPr>
          <a:xfrm>
            <a:off x="1371600" y="384048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Interface &amp; Hosting</a:t>
            </a:r>
            <a:endParaRPr lang="en-US" sz="1500" dirty="0"/>
          </a:p>
        </p:txBody>
      </p:sp>
      <p:sp>
        <p:nvSpPr>
          <p:cNvPr id="1048734" name="Shape 39"/>
          <p:cNvSpPr/>
          <p:nvPr/>
        </p:nvSpPr>
        <p:spPr>
          <a:xfrm>
            <a:off x="3611880" y="402336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sp>
        <p:nvSpPr>
          <p:cNvPr id="1048735" name="Text 40"/>
          <p:cNvSpPr txBox="1"/>
          <p:nvPr/>
        </p:nvSpPr>
        <p:spPr>
          <a:xfrm>
            <a:off x="3611880" y="4023360"/>
            <a:ext cx="1143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1048736" name="Shape 41"/>
          <p:cNvSpPr/>
          <p:nvPr/>
        </p:nvSpPr>
        <p:spPr>
          <a:xfrm>
            <a:off x="4846320" y="402336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sp>
        <p:nvSpPr>
          <p:cNvPr id="1048737" name="Text 42"/>
          <p:cNvSpPr txBox="1"/>
          <p:nvPr/>
        </p:nvSpPr>
        <p:spPr>
          <a:xfrm>
            <a:off x="4846320" y="4023360"/>
            <a:ext cx="1143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 API</a:t>
            </a:r>
            <a:endParaRPr lang="en-US" sz="1100" dirty="0"/>
          </a:p>
        </p:txBody>
      </p:sp>
      <p:sp>
        <p:nvSpPr>
          <p:cNvPr id="1048738" name="Shape 43"/>
          <p:cNvSpPr/>
          <p:nvPr/>
        </p:nvSpPr>
        <p:spPr>
          <a:xfrm>
            <a:off x="6080760" y="402336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sp>
        <p:nvSpPr>
          <p:cNvPr id="1048739" name="Text 44"/>
          <p:cNvSpPr txBox="1"/>
          <p:nvPr/>
        </p:nvSpPr>
        <p:spPr>
          <a:xfrm>
            <a:off x="6080760" y="4023360"/>
            <a:ext cx="1143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</a:t>
            </a:r>
            <a:endParaRPr lang="en-US" sz="1100" dirty="0"/>
          </a:p>
        </p:txBody>
      </p:sp>
      <p:sp>
        <p:nvSpPr>
          <p:cNvPr id="1048740" name="Shape 45"/>
          <p:cNvSpPr/>
          <p:nvPr/>
        </p:nvSpPr>
        <p:spPr>
          <a:xfrm>
            <a:off x="7315200" y="402336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sp>
        <p:nvSpPr>
          <p:cNvPr id="1048741" name="Text 46"/>
          <p:cNvSpPr txBox="1"/>
          <p:nvPr/>
        </p:nvSpPr>
        <p:spPr>
          <a:xfrm>
            <a:off x="7315200" y="4023360"/>
            <a:ext cx="1143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6" name="Text 1"/>
          <p:cNvSpPr txBox="1"/>
          <p:nvPr/>
        </p:nvSpPr>
        <p:spPr>
          <a:xfrm>
            <a:off x="8138160" y="475488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  <p:sp>
        <p:nvSpPr>
          <p:cNvPr id="1048747" name="Text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Business Use Cases</a:t>
            </a:r>
            <a:endParaRPr lang="en-US" sz="3000" dirty="0"/>
          </a:p>
        </p:txBody>
      </p:sp>
      <p:sp>
        <p:nvSpPr>
          <p:cNvPr id="1048748" name="Shape 3"/>
          <p:cNvSpPr/>
          <p:nvPr/>
        </p:nvSpPr>
        <p:spPr>
          <a:xfrm>
            <a:off x="457200" y="1280160"/>
            <a:ext cx="1920240" cy="3200400"/>
          </a:xfrm>
          <a:prstGeom prst="roundRect">
            <a:avLst>
              <a:gd name="adj" fmla="val 4762"/>
            </a:avLst>
          </a:prstGeom>
          <a:solidFill>
            <a:srgbClr val="131D33"/>
          </a:solidFill>
          <a:ln w="9525">
            <a:solidFill>
              <a:srgbClr val="22314F"/>
            </a:solidFill>
            <a:prstDash val="solid"/>
          </a:ln>
        </p:spPr>
      </p:sp>
      <p:sp>
        <p:nvSpPr>
          <p:cNvPr id="1048749" name="Shape 4"/>
          <p:cNvSpPr/>
          <p:nvPr/>
        </p:nvSpPr>
        <p:spPr>
          <a:xfrm>
            <a:off x="685800" y="1508760"/>
            <a:ext cx="731520" cy="731520"/>
          </a:xfrm>
          <a:prstGeom prst="ellipse">
            <a:avLst/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pic>
        <p:nvPicPr>
          <p:cNvPr id="209718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310" y="1706270"/>
            <a:ext cx="336499" cy="336499"/>
          </a:xfrm>
          <a:prstGeom prst="rect">
            <a:avLst/>
          </a:prstGeom>
        </p:spPr>
      </p:pic>
      <p:sp>
        <p:nvSpPr>
          <p:cNvPr id="1048750" name="Text 5"/>
          <p:cNvSpPr txBox="1"/>
          <p:nvPr/>
        </p:nvSpPr>
        <p:spPr>
          <a:xfrm>
            <a:off x="685800" y="246888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Retail</a:t>
            </a:r>
            <a:endParaRPr lang="en-US" sz="1800" dirty="0"/>
          </a:p>
        </p:txBody>
      </p:sp>
      <p:sp>
        <p:nvSpPr>
          <p:cNvPr id="1048751" name="Text 6"/>
          <p:cNvSpPr txBox="1"/>
          <p:nvPr/>
        </p:nvSpPr>
        <p:spPr>
          <a:xfrm>
            <a:off x="685800" y="2926080"/>
            <a:ext cx="150876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buNone/>
            </a:pPr>
            <a:r>
              <a:rPr lang="en-US" sz="1250" dirty="0">
                <a:solidFill>
                  <a:srgbClr val="9FB0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 demand, find best-sellers and reduce stock-outs</a:t>
            </a:r>
            <a:endParaRPr lang="en-US" sz="1250" dirty="0"/>
          </a:p>
        </p:txBody>
      </p:sp>
      <p:sp>
        <p:nvSpPr>
          <p:cNvPr id="1048752" name="Shape 7"/>
          <p:cNvSpPr/>
          <p:nvPr/>
        </p:nvSpPr>
        <p:spPr>
          <a:xfrm>
            <a:off x="2560320" y="1280160"/>
            <a:ext cx="1920240" cy="3200400"/>
          </a:xfrm>
          <a:prstGeom prst="roundRect">
            <a:avLst>
              <a:gd name="adj" fmla="val 4762"/>
            </a:avLst>
          </a:prstGeom>
          <a:solidFill>
            <a:srgbClr val="131D33"/>
          </a:solidFill>
          <a:ln w="9525">
            <a:solidFill>
              <a:srgbClr val="22314F"/>
            </a:solidFill>
            <a:prstDash val="solid"/>
          </a:ln>
        </p:spPr>
      </p:sp>
      <p:sp>
        <p:nvSpPr>
          <p:cNvPr id="1048753" name="Shape 8"/>
          <p:cNvSpPr/>
          <p:nvPr/>
        </p:nvSpPr>
        <p:spPr>
          <a:xfrm>
            <a:off x="2788920" y="1508760"/>
            <a:ext cx="731520" cy="731520"/>
          </a:xfrm>
          <a:prstGeom prst="ellipse">
            <a:avLst/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pic>
        <p:nvPicPr>
          <p:cNvPr id="209718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430" y="1706270"/>
            <a:ext cx="336499" cy="336499"/>
          </a:xfrm>
          <a:prstGeom prst="rect">
            <a:avLst/>
          </a:prstGeom>
        </p:spPr>
      </p:pic>
      <p:sp>
        <p:nvSpPr>
          <p:cNvPr id="1048754" name="Text 9"/>
          <p:cNvSpPr txBox="1"/>
          <p:nvPr/>
        </p:nvSpPr>
        <p:spPr>
          <a:xfrm>
            <a:off x="2788920" y="246888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Finance</a:t>
            </a:r>
            <a:endParaRPr lang="en-US" sz="1800" dirty="0"/>
          </a:p>
        </p:txBody>
      </p:sp>
      <p:sp>
        <p:nvSpPr>
          <p:cNvPr id="1048755" name="Text 10"/>
          <p:cNvSpPr txBox="1"/>
          <p:nvPr/>
        </p:nvSpPr>
        <p:spPr>
          <a:xfrm>
            <a:off x="2788920" y="2926080"/>
            <a:ext cx="150876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buNone/>
            </a:pPr>
            <a:r>
              <a:rPr lang="en-US" sz="1250" dirty="0">
                <a:solidFill>
                  <a:srgbClr val="9FB0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Flag unusual transactions and track cash flow trends</a:t>
            </a:r>
            <a:endParaRPr lang="en-US" sz="1250" dirty="0"/>
          </a:p>
        </p:txBody>
      </p:sp>
      <p:sp>
        <p:nvSpPr>
          <p:cNvPr id="1048756" name="Shape 11"/>
          <p:cNvSpPr/>
          <p:nvPr/>
        </p:nvSpPr>
        <p:spPr>
          <a:xfrm>
            <a:off x="4663440" y="1280160"/>
            <a:ext cx="1920240" cy="3200400"/>
          </a:xfrm>
          <a:prstGeom prst="roundRect">
            <a:avLst>
              <a:gd name="adj" fmla="val 4762"/>
            </a:avLst>
          </a:prstGeom>
          <a:solidFill>
            <a:srgbClr val="131D33"/>
          </a:solidFill>
          <a:ln w="9525">
            <a:solidFill>
              <a:srgbClr val="22314F"/>
            </a:solidFill>
            <a:prstDash val="solid"/>
          </a:ln>
        </p:spPr>
      </p:sp>
      <p:sp>
        <p:nvSpPr>
          <p:cNvPr id="1048757" name="Shape 12"/>
          <p:cNvSpPr/>
          <p:nvPr/>
        </p:nvSpPr>
        <p:spPr>
          <a:xfrm>
            <a:off x="4892040" y="1508760"/>
            <a:ext cx="731520" cy="731520"/>
          </a:xfrm>
          <a:prstGeom prst="ellipse">
            <a:avLst/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pic>
        <p:nvPicPr>
          <p:cNvPr id="209718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9550" y="1706270"/>
            <a:ext cx="336499" cy="336499"/>
          </a:xfrm>
          <a:prstGeom prst="rect">
            <a:avLst/>
          </a:prstGeom>
        </p:spPr>
      </p:pic>
      <p:sp>
        <p:nvSpPr>
          <p:cNvPr id="1048758" name="Text 13"/>
          <p:cNvSpPr txBox="1"/>
          <p:nvPr/>
        </p:nvSpPr>
        <p:spPr>
          <a:xfrm>
            <a:off x="4892040" y="246888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Marketing</a:t>
            </a:r>
            <a:endParaRPr lang="en-US" sz="1800" dirty="0"/>
          </a:p>
        </p:txBody>
      </p:sp>
      <p:sp>
        <p:nvSpPr>
          <p:cNvPr id="1048759" name="Text 14"/>
          <p:cNvSpPr txBox="1"/>
          <p:nvPr/>
        </p:nvSpPr>
        <p:spPr>
          <a:xfrm>
            <a:off x="4892040" y="2926080"/>
            <a:ext cx="150876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buNone/>
            </a:pPr>
            <a:r>
              <a:rPr lang="en-US" sz="1250" dirty="0">
                <a:solidFill>
                  <a:srgbClr val="9FB0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Measure campaign ROI and discover customer segments</a:t>
            </a:r>
            <a:endParaRPr lang="en-US" sz="1250" dirty="0"/>
          </a:p>
        </p:txBody>
      </p:sp>
      <p:sp>
        <p:nvSpPr>
          <p:cNvPr id="1048760" name="Shape 15"/>
          <p:cNvSpPr/>
          <p:nvPr/>
        </p:nvSpPr>
        <p:spPr>
          <a:xfrm>
            <a:off x="6766560" y="1280160"/>
            <a:ext cx="1920240" cy="3200400"/>
          </a:xfrm>
          <a:prstGeom prst="roundRect">
            <a:avLst>
              <a:gd name="adj" fmla="val 4762"/>
            </a:avLst>
          </a:prstGeom>
          <a:solidFill>
            <a:srgbClr val="131D33"/>
          </a:solidFill>
          <a:ln w="9525">
            <a:solidFill>
              <a:srgbClr val="22314F"/>
            </a:solidFill>
            <a:prstDash val="solid"/>
          </a:ln>
        </p:spPr>
      </p:sp>
      <p:sp>
        <p:nvSpPr>
          <p:cNvPr id="1048761" name="Shape 16"/>
          <p:cNvSpPr/>
          <p:nvPr/>
        </p:nvSpPr>
        <p:spPr>
          <a:xfrm>
            <a:off x="6995160" y="1508760"/>
            <a:ext cx="731520" cy="731520"/>
          </a:xfrm>
          <a:prstGeom prst="ellipse">
            <a:avLst/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pic>
        <p:nvPicPr>
          <p:cNvPr id="209718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2670" y="1706270"/>
            <a:ext cx="336499" cy="336499"/>
          </a:xfrm>
          <a:prstGeom prst="rect">
            <a:avLst/>
          </a:prstGeom>
        </p:spPr>
      </p:pic>
      <p:sp>
        <p:nvSpPr>
          <p:cNvPr id="1048762" name="Text 17"/>
          <p:cNvSpPr txBox="1"/>
          <p:nvPr/>
        </p:nvSpPr>
        <p:spPr>
          <a:xfrm>
            <a:off x="6995160" y="246888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Operations</a:t>
            </a:r>
            <a:endParaRPr lang="en-US" sz="1800" dirty="0"/>
          </a:p>
        </p:txBody>
      </p:sp>
      <p:sp>
        <p:nvSpPr>
          <p:cNvPr id="1048763" name="Text 18"/>
          <p:cNvSpPr txBox="1"/>
          <p:nvPr/>
        </p:nvSpPr>
        <p:spPr>
          <a:xfrm>
            <a:off x="6995160" y="2926080"/>
            <a:ext cx="150876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buNone/>
            </a:pPr>
            <a:r>
              <a:rPr lang="en-US" sz="1250" dirty="0">
                <a:solidFill>
                  <a:srgbClr val="9FB0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 supply-chain delays and hidden cost leaks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8" name="Text 1"/>
          <p:cNvSpPr txBox="1"/>
          <p:nvPr/>
        </p:nvSpPr>
        <p:spPr>
          <a:xfrm>
            <a:off x="8138160" y="475488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  <p:sp>
        <p:nvSpPr>
          <p:cNvPr id="1048769" name="Text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Faster Insights, Lower Effort</a:t>
            </a:r>
            <a:endParaRPr lang="en-US" sz="3000" dirty="0"/>
          </a:p>
        </p:txBody>
      </p:sp>
      <p:sp>
        <p:nvSpPr>
          <p:cNvPr id="1048770" name="Shape 3"/>
          <p:cNvSpPr/>
          <p:nvPr/>
        </p:nvSpPr>
        <p:spPr>
          <a:xfrm>
            <a:off x="457200" y="1234440"/>
            <a:ext cx="5257800" cy="3383280"/>
          </a:xfrm>
          <a:prstGeom prst="roundRect">
            <a:avLst>
              <a:gd name="adj" fmla="val 2703"/>
            </a:avLst>
          </a:prstGeom>
          <a:solidFill>
            <a:srgbClr val="131D33"/>
          </a:solidFill>
          <a:ln w="9525">
            <a:solidFill>
              <a:srgbClr val="22314F"/>
            </a:solidFill>
            <a:prstDash val="solid"/>
          </a:ln>
        </p:spPr>
      </p:sp>
      <p:graphicFrame>
        <p:nvGraphicFramePr>
          <p:cNvPr id="4194304" name="Chart 0"/>
          <p:cNvGraphicFramePr/>
          <p:nvPr/>
        </p:nvGraphicFramePr>
        <p:xfrm>
          <a:off x="548640" y="1280160"/>
          <a:ext cx="50749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48771" name="Shape 4"/>
          <p:cNvSpPr/>
          <p:nvPr/>
        </p:nvSpPr>
        <p:spPr>
          <a:xfrm>
            <a:off x="5943600" y="123444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131D33"/>
          </a:solidFill>
          <a:ln w="9525">
            <a:solidFill>
              <a:srgbClr val="22314F"/>
            </a:solidFill>
            <a:prstDash val="solid"/>
          </a:ln>
        </p:spPr>
      </p:sp>
      <p:sp>
        <p:nvSpPr>
          <p:cNvPr id="1048772" name="Text 5"/>
          <p:cNvSpPr txBox="1"/>
          <p:nvPr/>
        </p:nvSpPr>
        <p:spPr>
          <a:xfrm>
            <a:off x="6126480" y="132588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2800" b="1" dirty="0">
                <a:solidFill>
                  <a:srgbClr val="22D3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Minutes</a:t>
            </a:r>
            <a:endParaRPr lang="en-US" sz="2800" dirty="0"/>
          </a:p>
        </p:txBody>
      </p:sp>
      <p:sp>
        <p:nvSpPr>
          <p:cNvPr id="1048773" name="Text 6"/>
          <p:cNvSpPr txBox="1"/>
          <p:nvPr/>
        </p:nvSpPr>
        <p:spPr>
          <a:xfrm>
            <a:off x="6126480" y="185623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days, from raw data to insight</a:t>
            </a:r>
            <a:endParaRPr lang="en-US" sz="1200" dirty="0"/>
          </a:p>
        </p:txBody>
      </p:sp>
      <p:sp>
        <p:nvSpPr>
          <p:cNvPr id="1048774" name="Shape 7"/>
          <p:cNvSpPr/>
          <p:nvPr/>
        </p:nvSpPr>
        <p:spPr>
          <a:xfrm>
            <a:off x="5943600" y="2404872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131D33"/>
          </a:solidFill>
          <a:ln w="9525">
            <a:solidFill>
              <a:srgbClr val="22314F"/>
            </a:solidFill>
            <a:prstDash val="solid"/>
          </a:ln>
        </p:spPr>
      </p:sp>
      <p:sp>
        <p:nvSpPr>
          <p:cNvPr id="1048775" name="Text 8"/>
          <p:cNvSpPr txBox="1"/>
          <p:nvPr/>
        </p:nvSpPr>
        <p:spPr>
          <a:xfrm>
            <a:off x="6126480" y="2496312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2800" b="1" dirty="0">
                <a:solidFill>
                  <a:srgbClr val="FBBF2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 code</a:t>
            </a:r>
            <a:endParaRPr lang="en-US" sz="2800" dirty="0"/>
          </a:p>
        </p:txBody>
      </p:sp>
      <p:sp>
        <p:nvSpPr>
          <p:cNvPr id="1048776" name="Text 9"/>
          <p:cNvSpPr txBox="1"/>
          <p:nvPr/>
        </p:nvSpPr>
        <p:spPr>
          <a:xfrm>
            <a:off x="6126480" y="302666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 in plain English</a:t>
            </a:r>
            <a:endParaRPr lang="en-US" sz="1200" dirty="0"/>
          </a:p>
        </p:txBody>
      </p:sp>
      <p:sp>
        <p:nvSpPr>
          <p:cNvPr id="1048777" name="Shape 10"/>
          <p:cNvSpPr/>
          <p:nvPr/>
        </p:nvSpPr>
        <p:spPr>
          <a:xfrm>
            <a:off x="5943600" y="3575304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131D33"/>
          </a:solidFill>
          <a:ln w="9525">
            <a:solidFill>
              <a:srgbClr val="22314F"/>
            </a:solidFill>
            <a:prstDash val="solid"/>
          </a:ln>
        </p:spPr>
      </p:sp>
      <p:sp>
        <p:nvSpPr>
          <p:cNvPr id="1048778" name="Text 11"/>
          <p:cNvSpPr txBox="1"/>
          <p:nvPr/>
        </p:nvSpPr>
        <p:spPr>
          <a:xfrm>
            <a:off x="6126480" y="3666744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2800" b="1" dirty="0">
                <a:solidFill>
                  <a:srgbClr val="22D3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24/7</a:t>
            </a:r>
            <a:endParaRPr lang="en-US" sz="2800" dirty="0"/>
          </a:p>
        </p:txBody>
      </p:sp>
      <p:sp>
        <p:nvSpPr>
          <p:cNvPr id="1048779" name="Text 12"/>
          <p:cNvSpPr txBox="1"/>
          <p:nvPr/>
        </p:nvSpPr>
        <p:spPr>
          <a:xfrm>
            <a:off x="6126480" y="419709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always-on analyst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4" name="Text 1"/>
          <p:cNvSpPr txBox="1"/>
          <p:nvPr/>
        </p:nvSpPr>
        <p:spPr>
          <a:xfrm>
            <a:off x="8138160" y="475488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  <p:sp>
        <p:nvSpPr>
          <p:cNvPr id="1048785" name="Text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Benefits &amp; Future Scope</a:t>
            </a:r>
            <a:endParaRPr lang="en-US" sz="3000" dirty="0"/>
          </a:p>
        </p:txBody>
      </p:sp>
      <p:sp>
        <p:nvSpPr>
          <p:cNvPr id="1048786" name="Shape 3"/>
          <p:cNvSpPr/>
          <p:nvPr/>
        </p:nvSpPr>
        <p:spPr>
          <a:xfrm>
            <a:off x="457200" y="1234440"/>
            <a:ext cx="3886200" cy="3337560"/>
          </a:xfrm>
          <a:prstGeom prst="roundRect">
            <a:avLst>
              <a:gd name="adj" fmla="val 2740"/>
            </a:avLst>
          </a:prstGeom>
          <a:solidFill>
            <a:srgbClr val="131D33"/>
          </a:solidFill>
          <a:ln w="9525">
            <a:solidFill>
              <a:srgbClr val="22314F"/>
            </a:solidFill>
            <a:prstDash val="solid"/>
          </a:ln>
        </p:spPr>
      </p:sp>
      <p:sp>
        <p:nvSpPr>
          <p:cNvPr id="1048787" name="Shape 4"/>
          <p:cNvSpPr/>
          <p:nvPr/>
        </p:nvSpPr>
        <p:spPr>
          <a:xfrm>
            <a:off x="685800" y="1417320"/>
            <a:ext cx="548640" cy="548640"/>
          </a:xfrm>
          <a:prstGeom prst="ellipse">
            <a:avLst/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pic>
        <p:nvPicPr>
          <p:cNvPr id="209718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3" y="1565453"/>
            <a:ext cx="252374" cy="252374"/>
          </a:xfrm>
          <a:prstGeom prst="rect">
            <a:avLst/>
          </a:prstGeom>
        </p:spPr>
      </p:pic>
      <p:sp>
        <p:nvSpPr>
          <p:cNvPr id="1048788" name="Text 5"/>
          <p:cNvSpPr txBox="1"/>
          <p:nvPr/>
        </p:nvSpPr>
        <p:spPr>
          <a:xfrm>
            <a:off x="1371600" y="141732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900" b="1" dirty="0">
                <a:solidFill>
                  <a:srgbClr val="22D3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Benefits</a:t>
            </a:r>
            <a:endParaRPr lang="en-US" sz="1900" dirty="0"/>
          </a:p>
        </p:txBody>
      </p:sp>
      <p:sp>
        <p:nvSpPr>
          <p:cNvPr id="1048789" name="Text 6"/>
          <p:cNvSpPr txBox="1"/>
          <p:nvPr/>
        </p:nvSpPr>
        <p:spPr>
          <a:xfrm>
            <a:off x="731520" y="2194560"/>
            <a:ext cx="338328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Faster, data-driven decisions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Lower cost and manual effort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access for non-technical users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Consistent, error-free analysis</a:t>
            </a:r>
            <a:endParaRPr lang="en-US" sz="1400" dirty="0"/>
          </a:p>
        </p:txBody>
      </p:sp>
      <p:sp>
        <p:nvSpPr>
          <p:cNvPr id="1048790" name="Shape 7"/>
          <p:cNvSpPr/>
          <p:nvPr/>
        </p:nvSpPr>
        <p:spPr>
          <a:xfrm>
            <a:off x="4800600" y="1234440"/>
            <a:ext cx="3886200" cy="3337560"/>
          </a:xfrm>
          <a:prstGeom prst="roundRect">
            <a:avLst>
              <a:gd name="adj" fmla="val 2740"/>
            </a:avLst>
          </a:prstGeom>
          <a:solidFill>
            <a:srgbClr val="131D33"/>
          </a:solidFill>
          <a:ln w="9525">
            <a:solidFill>
              <a:srgbClr val="22314F"/>
            </a:solidFill>
            <a:prstDash val="solid"/>
          </a:ln>
        </p:spPr>
      </p:sp>
      <p:sp>
        <p:nvSpPr>
          <p:cNvPr id="1048791" name="Shape 8"/>
          <p:cNvSpPr/>
          <p:nvPr/>
        </p:nvSpPr>
        <p:spPr>
          <a:xfrm>
            <a:off x="5029200" y="1417320"/>
            <a:ext cx="548640" cy="548640"/>
          </a:xfrm>
          <a:prstGeom prst="ellipse">
            <a:avLst/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pic>
        <p:nvPicPr>
          <p:cNvPr id="209718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7333" y="1565453"/>
            <a:ext cx="252374" cy="252374"/>
          </a:xfrm>
          <a:prstGeom prst="rect">
            <a:avLst/>
          </a:prstGeom>
        </p:spPr>
      </p:pic>
      <p:sp>
        <p:nvSpPr>
          <p:cNvPr id="1048792" name="Text 9"/>
          <p:cNvSpPr txBox="1"/>
          <p:nvPr/>
        </p:nvSpPr>
        <p:spPr>
          <a:xfrm>
            <a:off x="5715000" y="141732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900" b="1" dirty="0">
                <a:solidFill>
                  <a:srgbClr val="FBBF2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Future Scope</a:t>
            </a:r>
            <a:endParaRPr lang="en-US" sz="1900" dirty="0"/>
          </a:p>
        </p:txBody>
      </p:sp>
      <p:sp>
        <p:nvSpPr>
          <p:cNvPr id="1048793" name="Text 10"/>
          <p:cNvSpPr txBox="1"/>
          <p:nvPr/>
        </p:nvSpPr>
        <p:spPr>
          <a:xfrm>
            <a:off x="5074920" y="2194560"/>
            <a:ext cx="338328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streaming data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Voice-enabled assistant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Multi-agent collaboration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ERP / CRM integrations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alerts and reports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7" name="Shape 0"/>
          <p:cNvSpPr/>
          <p:nvPr/>
        </p:nvSpPr>
        <p:spPr>
          <a:xfrm>
            <a:off x="548640" y="1325880"/>
            <a:ext cx="914400" cy="914400"/>
          </a:xfrm>
          <a:prstGeom prst="ellipse">
            <a:avLst/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pic>
        <p:nvPicPr>
          <p:cNvPr id="209718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572768"/>
            <a:ext cx="420624" cy="420624"/>
          </a:xfrm>
          <a:prstGeom prst="rect">
            <a:avLst/>
          </a:prstGeom>
        </p:spPr>
      </p:pic>
      <p:sp>
        <p:nvSpPr>
          <p:cNvPr id="1048798" name="Text 1"/>
          <p:cNvSpPr txBox="1"/>
          <p:nvPr/>
        </p:nvSpPr>
        <p:spPr>
          <a:xfrm>
            <a:off x="548640" y="2514600"/>
            <a:ext cx="39319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1048799" name="Text 2"/>
          <p:cNvSpPr txBox="1"/>
          <p:nvPr/>
        </p:nvSpPr>
        <p:spPr>
          <a:xfrm>
            <a:off x="548640" y="338328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endParaRPr lang="en-US" sz="1800" dirty="0"/>
          </a:p>
        </p:txBody>
      </p:sp>
      <p:sp>
        <p:nvSpPr>
          <p:cNvPr id="1048800" name="Shape 3"/>
          <p:cNvSpPr/>
          <p:nvPr/>
        </p:nvSpPr>
        <p:spPr>
          <a:xfrm>
            <a:off x="4754880" y="640080"/>
            <a:ext cx="3931920" cy="3840480"/>
          </a:xfrm>
          <a:prstGeom prst="roundRect">
            <a:avLst>
              <a:gd name="adj" fmla="val 2381"/>
            </a:avLst>
          </a:prstGeom>
          <a:solidFill>
            <a:srgbClr val="131D33"/>
          </a:solidFill>
          <a:ln w="9525">
            <a:solidFill>
              <a:srgbClr val="22314F"/>
            </a:solidFill>
            <a:prstDash val="solid"/>
          </a:ln>
        </p:spPr>
      </p:sp>
      <p:sp>
        <p:nvSpPr>
          <p:cNvPr id="1048801" name="Text 4"/>
          <p:cNvSpPr txBox="1"/>
          <p:nvPr/>
        </p:nvSpPr>
        <p:spPr>
          <a:xfrm>
            <a:off x="5029200" y="82296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Presented by:</a:t>
            </a:r>
            <a:endParaRPr lang="en-US" sz="2000" dirty="0"/>
          </a:p>
        </p:txBody>
      </p:sp>
      <p:sp>
        <p:nvSpPr>
          <p:cNvPr id="1048802" name="Shape 5"/>
          <p:cNvSpPr/>
          <p:nvPr/>
        </p:nvSpPr>
        <p:spPr>
          <a:xfrm>
            <a:off x="5029200" y="1417320"/>
            <a:ext cx="457200" cy="457200"/>
          </a:xfrm>
          <a:prstGeom prst="ellipse">
            <a:avLst/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sp>
        <p:nvSpPr>
          <p:cNvPr id="1048803" name="Text 6"/>
          <p:cNvSpPr txBox="1"/>
          <p:nvPr/>
        </p:nvSpPr>
        <p:spPr>
          <a:xfrm>
            <a:off x="5029200" y="1417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</a:t>
            </a:r>
            <a:endParaRPr lang="en-US" sz="1200" dirty="0"/>
          </a:p>
        </p:txBody>
      </p:sp>
      <p:sp>
        <p:nvSpPr>
          <p:cNvPr id="1048804" name="Text 7"/>
          <p:cNvSpPr txBox="1"/>
          <p:nvPr/>
        </p:nvSpPr>
        <p:spPr>
          <a:xfrm>
            <a:off x="5669280" y="141732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Nandhini Gaddam</a:t>
            </a:r>
            <a:endParaRPr lang="en-US" sz="1600" dirty="0"/>
          </a:p>
        </p:txBody>
      </p:sp>
      <p:sp>
        <p:nvSpPr>
          <p:cNvPr id="1048805" name="Shape 8"/>
          <p:cNvSpPr/>
          <p:nvPr/>
        </p:nvSpPr>
        <p:spPr>
          <a:xfrm>
            <a:off x="5029200" y="2020824"/>
            <a:ext cx="457200" cy="457200"/>
          </a:xfrm>
          <a:prstGeom prst="ellipse">
            <a:avLst/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sp>
        <p:nvSpPr>
          <p:cNvPr id="1048806" name="Text 9"/>
          <p:cNvSpPr txBox="1"/>
          <p:nvPr/>
        </p:nvSpPr>
        <p:spPr>
          <a:xfrm>
            <a:off x="5029200" y="202082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SG</a:t>
            </a:r>
            <a:endParaRPr lang="en-US" sz="1200" dirty="0"/>
          </a:p>
        </p:txBody>
      </p:sp>
      <p:sp>
        <p:nvSpPr>
          <p:cNvPr id="1048807" name="Text 10"/>
          <p:cNvSpPr txBox="1"/>
          <p:nvPr/>
        </p:nvSpPr>
        <p:spPr>
          <a:xfrm>
            <a:off x="5669280" y="2020824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Stilekha Gurrapusala</a:t>
            </a:r>
            <a:endParaRPr lang="en-US" sz="1600" dirty="0"/>
          </a:p>
        </p:txBody>
      </p:sp>
      <p:sp>
        <p:nvSpPr>
          <p:cNvPr id="1048808" name="Shape 11"/>
          <p:cNvSpPr/>
          <p:nvPr/>
        </p:nvSpPr>
        <p:spPr>
          <a:xfrm>
            <a:off x="5029200" y="2624328"/>
            <a:ext cx="457200" cy="457200"/>
          </a:xfrm>
          <a:prstGeom prst="ellipse">
            <a:avLst/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sp>
        <p:nvSpPr>
          <p:cNvPr id="1048809" name="Text 12"/>
          <p:cNvSpPr txBox="1"/>
          <p:nvPr/>
        </p:nvSpPr>
        <p:spPr>
          <a:xfrm>
            <a:off x="5029200" y="26243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HJ</a:t>
            </a:r>
            <a:endParaRPr lang="en-US" sz="1200" dirty="0"/>
          </a:p>
        </p:txBody>
      </p:sp>
      <p:sp>
        <p:nvSpPr>
          <p:cNvPr id="1048810" name="Text 13"/>
          <p:cNvSpPr txBox="1"/>
          <p:nvPr/>
        </p:nvSpPr>
        <p:spPr>
          <a:xfrm>
            <a:off x="5669280" y="2624328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Harshini Jonalagadda</a:t>
            </a:r>
            <a:endParaRPr lang="en-US" sz="1600" dirty="0"/>
          </a:p>
        </p:txBody>
      </p:sp>
      <p:sp>
        <p:nvSpPr>
          <p:cNvPr id="1048811" name="Shape 14"/>
          <p:cNvSpPr/>
          <p:nvPr/>
        </p:nvSpPr>
        <p:spPr>
          <a:xfrm>
            <a:off x="5029200" y="3227832"/>
            <a:ext cx="457200" cy="457200"/>
          </a:xfrm>
          <a:prstGeom prst="ellipse">
            <a:avLst/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sp>
        <p:nvSpPr>
          <p:cNvPr id="1048812" name="Text 15"/>
          <p:cNvSpPr txBox="1"/>
          <p:nvPr/>
        </p:nvSpPr>
        <p:spPr>
          <a:xfrm>
            <a:off x="5029200" y="32278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</a:t>
            </a:r>
            <a:endParaRPr lang="en-US" sz="1200" dirty="0"/>
          </a:p>
        </p:txBody>
      </p:sp>
      <p:sp>
        <p:nvSpPr>
          <p:cNvPr id="1048813" name="Text 16"/>
          <p:cNvSpPr txBox="1"/>
          <p:nvPr/>
        </p:nvSpPr>
        <p:spPr>
          <a:xfrm>
            <a:off x="5669280" y="3227832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Swapna Kamma</a:t>
            </a:r>
            <a:endParaRPr lang="en-US" sz="1600" dirty="0"/>
          </a:p>
        </p:txBody>
      </p:sp>
      <p:sp>
        <p:nvSpPr>
          <p:cNvPr id="1048814" name="Shape 17"/>
          <p:cNvSpPr/>
          <p:nvPr/>
        </p:nvSpPr>
        <p:spPr>
          <a:xfrm>
            <a:off x="5029200" y="3831336"/>
            <a:ext cx="457200" cy="457200"/>
          </a:xfrm>
          <a:prstGeom prst="ellipse">
            <a:avLst/>
          </a:prstGeom>
          <a:solidFill>
            <a:srgbClr val="1B2B4A"/>
          </a:solidFill>
          <a:ln w="6350">
            <a:solidFill>
              <a:srgbClr val="1B2B4A"/>
            </a:solidFill>
            <a:prstDash val="solid"/>
          </a:ln>
        </p:spPr>
      </p:sp>
      <p:sp>
        <p:nvSpPr>
          <p:cNvPr id="1048815" name="Text 18"/>
          <p:cNvSpPr txBox="1"/>
          <p:nvPr/>
        </p:nvSpPr>
        <p:spPr>
          <a:xfrm>
            <a:off x="5029200" y="383133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VK</a:t>
            </a:r>
            <a:endParaRPr lang="en-US" sz="1200" dirty="0"/>
          </a:p>
        </p:txBody>
      </p:sp>
      <p:sp>
        <p:nvSpPr>
          <p:cNvPr id="1048816" name="Text 19"/>
          <p:cNvSpPr txBox="1"/>
          <p:nvPr/>
        </p:nvSpPr>
        <p:spPr>
          <a:xfrm>
            <a:off x="5669280" y="3831336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Vyshnavi Kantem</a:t>
            </a:r>
            <a:endParaRPr lang="en-US" sz="16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4.4,&quot;left&quot;:471.6,&quot;top&quot;:82.8,&quot;width&quot;:212.4}"/>
</p:tagLst>
</file>

<file path=ppt/tags/tag2.xml><?xml version="1.0" encoding="utf-8"?>
<p:tagLst xmlns:p="http://schemas.openxmlformats.org/presentationml/2006/main">
  <p:tag name="KSO_WM_DIAGRAM_VIRTUALLY_FRAME" val="{&quot;height&quot;:284.4,&quot;left&quot;:471.6,&quot;top&quot;:82.8,&quot;width&quot;:212.4}"/>
</p:tagLst>
</file>

<file path=ppt/tags/tag3.xml><?xml version="1.0" encoding="utf-8"?>
<p:tagLst xmlns:p="http://schemas.openxmlformats.org/presentationml/2006/main">
  <p:tag name="KSO_WM_DIAGRAM_VIRTUALLY_FRAME" val="{&quot;height&quot;:284.4,&quot;left&quot;:471.6,&quot;top&quot;:82.8,&quot;width&quot;:212.4}"/>
</p:tagLst>
</file>

<file path=ppt/tags/tag4.xml><?xml version="1.0" encoding="utf-8"?>
<p:tagLst xmlns:p="http://schemas.openxmlformats.org/presentationml/2006/main">
  <p:tag name="KSO_WM_DIAGRAM_VIRTUALLY_FRAME" val="{&quot;height&quot;:284.4,&quot;left&quot;:471.6,&quot;top&quot;:82.8,&quot;width&quot;:212.4}"/>
</p:tagLst>
</file>

<file path=ppt/tags/tag5.xml><?xml version="1.0" encoding="utf-8"?>
<p:tagLst xmlns:p="http://schemas.openxmlformats.org/presentationml/2006/main">
  <p:tag name="KSO_WM_DIAGRAM_VIRTUALLY_FRAME" val="{&quot;height&quot;:284.4,&quot;left&quot;:471.6,&quot;top&quot;:82.8,&quot;width&quot;:212.4}"/>
</p:tagLst>
</file>

<file path=ppt/tags/tag6.xml><?xml version="1.0" encoding="utf-8"?>
<p:tagLst xmlns:p="http://schemas.openxmlformats.org/presentationml/2006/main">
  <p:tag name="KSO_WM_DIAGRAM_VIRTUALLY_FRAME" val="{&quot;height&quot;:284.4,&quot;left&quot;:471.6,&quot;top&quot;:82.8,&quot;width&quot;:212.4}"/>
</p:tagLst>
</file>

<file path=ppt/tags/tag7.xml><?xml version="1.0" encoding="utf-8"?>
<p:tagLst xmlns:p="http://schemas.openxmlformats.org/presentationml/2006/main">
  <p:tag name="KSO_WM_DIAGRAM_VIRTUALLY_FRAME" val="{&quot;height&quot;:284.4,&quot;left&quot;:471.6,&quot;top&quot;:82.8,&quot;width&quot;:212.4}"/>
</p:tagLst>
</file>

<file path=ppt/tags/tag8.xml><?xml version="1.0" encoding="utf-8"?>
<p:tagLst xmlns:p="http://schemas.openxmlformats.org/presentationml/2006/main">
  <p:tag name="KSO_WM_DIAGRAM_VIRTUALLY_FRAME" val="{&quot;height&quot;:284.4,&quot;left&quot;:471.6,&quot;top&quot;:82.8,&quot;width&quot;:212.4}"/>
</p:tagLst>
</file>

<file path=ppt/tags/tag9.xml><?xml version="1.0" encoding="utf-8"?>
<p:tagLst xmlns:p="http://schemas.openxmlformats.org/presentationml/2006/main">
  <p:tag name="KSO_WM_DIAGRAM_VIRTUALLY_FRAME" val="{&quot;height&quot;:284.4,&quot;left&quot;:471.6,&quot;top&quot;:82.8,&quot;width&quot;:212.4}"/>
</p:tagLst>
</file>

<file path=ppt/tags/tag10.xml><?xml version="1.0" encoding="utf-8"?>
<p:tagLst xmlns:p="http://schemas.openxmlformats.org/presentationml/2006/main">
  <p:tag name="KSO_WM_DIAGRAM_VIRTUALLY_FRAME" val="{&quot;height&quot;:284.4,&quot;left&quot;:471.6,&quot;top&quot;:82.8,&quot;width&quot;:212.4}"/>
</p:tagLst>
</file>

<file path=ppt/tags/tag11.xml><?xml version="1.0" encoding="utf-8"?>
<p:tagLst xmlns:p="http://schemas.openxmlformats.org/presentationml/2006/main">
  <p:tag name="KSO_WM_DIAGRAM_VIRTUALLY_FRAME" val="{&quot;height&quot;:284.4,&quot;left&quot;:471.6,&quot;top&quot;:82.8,&quot;width&quot;:212.4}"/>
</p:tagLst>
</file>

<file path=ppt/tags/tag12.xml><?xml version="1.0" encoding="utf-8"?>
<p:tagLst xmlns:p="http://schemas.openxmlformats.org/presentationml/2006/main">
  <p:tag name="KSO_WM_DIAGRAM_VIRTUALLY_FRAME" val="{&quot;height&quot;:284.4,&quot;left&quot;:471.6,&quot;top&quot;:82.8,&quot;width&quot;:212.4}"/>
</p:tagLst>
</file>

<file path=ppt/tags/tag13.xml><?xml version="1.0" encoding="utf-8"?>
<p:tagLst xmlns:p="http://schemas.openxmlformats.org/presentationml/2006/main">
  <p:tag name="KSO_WM_DIAGRAM_VIRTUALLY_FRAME" val="{&quot;height&quot;:284.4,&quot;left&quot;:471.6,&quot;top&quot;:82.8,&quot;width&quot;:212.4}"/>
</p:tagLst>
</file>

<file path=ppt/tags/tag14.xml><?xml version="1.0" encoding="utf-8"?>
<p:tagLst xmlns:p="http://schemas.openxmlformats.org/presentationml/2006/main">
  <p:tag name="KSO_WM_DIAGRAM_VIRTUALLY_FRAME" val="{&quot;height&quot;:284.4,&quot;left&quot;:471.6,&quot;top&quot;:82.8,&quot;width&quot;:212.4}"/>
</p:tagLst>
</file>

<file path=ppt/tags/tag15.xml><?xml version="1.0" encoding="utf-8"?>
<p:tagLst xmlns:p="http://schemas.openxmlformats.org/presentationml/2006/main">
  <p:tag name="KSO_WM_DIAGRAM_VIRTUALLY_FRAME" val="{&quot;height&quot;:284.4,&quot;left&quot;:471.6,&quot;top&quot;:82.8,&quot;width&quot;:212.4}"/>
</p:tagLst>
</file>

<file path=ppt/tags/tag16.xml><?xml version="1.0" encoding="utf-8"?>
<p:tagLst xmlns:p="http://schemas.openxmlformats.org/presentationml/2006/main">
  <p:tag name="KSO_WM_DIAGRAM_VIRTUALLY_FRAME" val="{&quot;height&quot;:284.4,&quot;left&quot;:471.6,&quot;top&quot;:82.8,&quot;width&quot;:212.4}"/>
</p:tagLst>
</file>

<file path=ppt/tags/tag17.xml><?xml version="1.0" encoding="utf-8"?>
<p:tagLst xmlns:p="http://schemas.openxmlformats.org/presentationml/2006/main">
  <p:tag name="KSO_WM_DIAGRAM_VIRTUALLY_FRAME" val="{&quot;height&quot;:262.8,&quot;left&quot;:36,&quot;top&quot;:97.2,&quot;width&quot;:648}"/>
</p:tagLst>
</file>

<file path=ppt/tags/tag18.xml><?xml version="1.0" encoding="utf-8"?>
<p:tagLst xmlns:p="http://schemas.openxmlformats.org/presentationml/2006/main">
  <p:tag name="KSO_WM_DIAGRAM_VIRTUALLY_FRAME" val="{&quot;height&quot;:262.8,&quot;left&quot;:36,&quot;top&quot;:97.2,&quot;width&quot;:648}"/>
</p:tagLst>
</file>

<file path=ppt/tags/tag19.xml><?xml version="1.0" encoding="utf-8"?>
<p:tagLst xmlns:p="http://schemas.openxmlformats.org/presentationml/2006/main">
  <p:tag name="KSO_WM_DIAGRAM_VIRTUALLY_FRAME" val="{&quot;height&quot;:262.8,&quot;left&quot;:36,&quot;top&quot;:97.2,&quot;width&quot;:648}"/>
</p:tagLst>
</file>

<file path=ppt/tags/tag20.xml><?xml version="1.0" encoding="utf-8"?>
<p:tagLst xmlns:p="http://schemas.openxmlformats.org/presentationml/2006/main">
  <p:tag name="KSO_WM_DIAGRAM_VIRTUALLY_FRAME" val="{&quot;height&quot;:262.8,&quot;left&quot;:36,&quot;top&quot;:97.2,&quot;width&quot;:648}"/>
</p:tagLst>
</file>

<file path=ppt/tags/tag21.xml><?xml version="1.0" encoding="utf-8"?>
<p:tagLst xmlns:p="http://schemas.openxmlformats.org/presentationml/2006/main">
  <p:tag name="KSO_WM_DIAGRAM_VIRTUALLY_FRAME" val="{&quot;height&quot;:262.8,&quot;left&quot;:36,&quot;top&quot;:97.2,&quot;width&quot;:648}"/>
</p:tagLst>
</file>

<file path=ppt/tags/tag22.xml><?xml version="1.0" encoding="utf-8"?>
<p:tagLst xmlns:p="http://schemas.openxmlformats.org/presentationml/2006/main">
  <p:tag name="KSO_WM_DIAGRAM_VIRTUALLY_FRAME" val="{&quot;height&quot;:262.8,&quot;left&quot;:36,&quot;top&quot;:97.2,&quot;width&quot;:648}"/>
</p:tagLst>
</file>

<file path=ppt/tags/tag23.xml><?xml version="1.0" encoding="utf-8"?>
<p:tagLst xmlns:p="http://schemas.openxmlformats.org/presentationml/2006/main">
  <p:tag name="KSO_WM_DIAGRAM_VIRTUALLY_FRAME" val="{&quot;height&quot;:262.8,&quot;left&quot;:36,&quot;top&quot;:97.2,&quot;width&quot;:648}"/>
</p:tagLst>
</file>

<file path=ppt/tags/tag24.xml><?xml version="1.0" encoding="utf-8"?>
<p:tagLst xmlns:p="http://schemas.openxmlformats.org/presentationml/2006/main">
  <p:tag name="KSO_WM_DIAGRAM_VIRTUALLY_FRAME" val="{&quot;height&quot;:262.8,&quot;left&quot;:36,&quot;top&quot;:97.2,&quot;width&quot;:648}"/>
</p:tagLst>
</file>

<file path=ppt/tags/tag25.xml><?xml version="1.0" encoding="utf-8"?>
<p:tagLst xmlns:p="http://schemas.openxmlformats.org/presentationml/2006/main">
  <p:tag name="KSO_WM_DIAGRAM_VIRTUALLY_FRAME" val="{&quot;height&quot;:262.8,&quot;left&quot;:36,&quot;top&quot;:97.2,&quot;width&quot;:648}"/>
</p:tagLst>
</file>

<file path=ppt/tags/tag26.xml><?xml version="1.0" encoding="utf-8"?>
<p:tagLst xmlns:p="http://schemas.openxmlformats.org/presentationml/2006/main">
  <p:tag name="KSO_WM_DIAGRAM_VIRTUALLY_FRAME" val="{&quot;height&quot;:262.8,&quot;left&quot;:36,&quot;top&quot;:97.2,&quot;width&quot;:648}"/>
</p:tagLst>
</file>

<file path=ppt/tags/tag27.xml><?xml version="1.0" encoding="utf-8"?>
<p:tagLst xmlns:p="http://schemas.openxmlformats.org/presentationml/2006/main">
  <p:tag name="KSO_WM_DIAGRAM_VIRTUALLY_FRAME" val="{&quot;height&quot;:262.8,&quot;left&quot;:36,&quot;top&quot;:97.2,&quot;width&quot;:648}"/>
</p:tagLst>
</file>

<file path=ppt/tags/tag28.xml><?xml version="1.0" encoding="utf-8"?>
<p:tagLst xmlns:p="http://schemas.openxmlformats.org/presentationml/2006/main">
  <p:tag name="KSO_WM_DIAGRAM_VIRTUALLY_FRAME" val="{&quot;height&quot;:262.8,&quot;left&quot;:36,&quot;top&quot;:97.2,&quot;width&quot;:64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3008</Words>
  <Application>WPS Presentation</Application>
  <PresentationFormat/>
  <Paragraphs>239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0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Arial</vt:lpstr>
      <vt:lpstr>Microsoft YaHei</vt:lpstr>
      <vt:lpstr>Arial Unicode MS</vt:lpstr>
      <vt:lpstr>Bahnschrift SemiBold</vt:lpstr>
      <vt:lpstr>Bahnschrift SemiBold Condensed</vt:lpstr>
      <vt:lpstr>Arial Black</vt:lpstr>
      <vt:lpstr>Bahnschrift Light Condensed</vt:lpstr>
      <vt:lpstr>Bahnschrift Light</vt:lpstr>
      <vt:lpstr>Bahnschrift Condensed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Data Analysis and Business Insight Agent</dc:title>
  <dc:creator>Team</dc:creator>
  <cp:lastModifiedBy>Swapna Kamma</cp:lastModifiedBy>
  <cp:revision>2</cp:revision>
  <dcterms:created xsi:type="dcterms:W3CDTF">2026-09-30T15:35:44Z</dcterms:created>
  <dcterms:modified xsi:type="dcterms:W3CDTF">2026-09-30T15:36:16Z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CE2B847882534A4A8C2A8375C6A8E195_13</vt:lpwstr>
  </property>
  <property fmtid="{D5CDD505-2E9C-101B-9397-08002B2CF9AE}" pid="3" name="KSOProductBuildVer">
    <vt:lpwstr>2057-12.2.0.23206</vt:lpwstr>
  </property>
</Properties>
</file>